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ffaa48c-7449-767c-6e03-fc47491a56c3}">
          <p14:sldIdLst>
            <p14:sldId id="256"/>
            <p14:sldId id="257"/>
          </p14:sldIdLst>
        </p14:section>
        <p14:section name="Round trip on unseen footage" id="{d1a3d078-7190-ca6e-8bdc-bb09d628886e}">
          <p14:sldIdLst>
            <p14:sldId id="258"/>
            <p14:sldId id="259"/>
            <p14:sldId id="260"/>
            <p14:sldId id="261"/>
          </p14:sldIdLst>
        </p14:section>
        <p14:section name="Meaning-preserving augmentation" id="{65ec3543-ad84-7455-30c8-8626a723c149}">
          <p14:sldIdLst>
            <p14:sldId id="262"/>
            <p14:sldId id="263"/>
            <p14:sldId id="264"/>
            <p14:sldId id="265"/>
            <p14:sldId id="266"/>
            <p14:sldId id="267"/>
            <p14:sldId id="268"/>
          </p14:sldIdLst>
        </p14:section>
        <p14:section name="The face (V1.3)" id="{ae1d0194-e674-7d14-a1bd-fb365cde4608}">
          <p14:sldIdLst>
            <p14:sldId id="269"/>
            <p14:sldId id="270"/>
            <p14:sldId id="271"/>
            <p14:sldId id="272"/>
            <p14:sldId id="273"/>
            <p14:sldId id="274"/>
          </p14:sldIdLst>
        </p14:section>
        <p14:section name="Next steps" id="{a961c5cb-bc2a-6ca0-9647-35be90833f37}">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1E"/>
                </a:solidFill>
                <a:latin typeface="+mn-lt"/>
              </a:defRPr>
            </a:pPr>
            <a:r>
              <a:rPr sz="1400" b="0" i="0" u="none" strike="noStrike">
                <a:solidFill>
                  <a:srgbClr val="1B1F1E"/>
                </a:solidFill>
                <a:latin typeface="+mn-lt"/>
              </a:rPr>
              <a:t>Body round-trip error, median (% shoulder width)</a:t>
            </a:r>
          </a:p>
        </c:rich>
      </c:tx>
      <c:layout/>
      <c:overlay val="0"/>
    </c:title>
    <c:autoTitleDeleted val="0"/>
    <c:plotArea>
      <c:layout/>
      <c:barChart>
        <c:barDir val="col"/>
        <c:grouping val="clustered"/>
        <c:varyColors val="0"/>
        <c:ser>
          <c:idx val="0"/>
          <c:order val="0"/>
          <c:tx>
            <c:strRef>
              <c:f>Sheet1!$B$1</c:f>
              <c:strCache>
                <c:ptCount val="1"/>
                <c:pt idx="0">
                  <c:v>Pilot (5 clips)</c:v>
                </c:pt>
              </c:strCache>
            </c:strRef>
          </c:tx>
          <c:spPr>
            <a:solidFill>
              <a:srgbClr val="7D8C87"/>
            </a:solidFill>
            <a:effectLst/>
          </c:spPr>
          <c:invertIfNegative val="0"/>
          <c:dLbls>
            <c:numFmt formatCode="0.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Sheet1!$A$2:$A$4</c:f>
              <c:multiLvlStrCache>
                <c:ptCount val="3"/>
                <c:lvl>
                  <c:pt idx="0">
                    <c:v>Direct</c:v>
                  </c:pt>
                  <c:pt idx="1">
                    <c:v>Held out</c:v>
                  </c:pt>
                  <c:pt idx="2">
                    <c:v>Rigid floor</c:v>
                  </c:pt>
                </c:lvl>
              </c:multiLvlStrCache>
            </c:multiLvlStrRef>
          </c:cat>
          <c:val>
            <c:numRef>
              <c:f>Sheet1!$B$2:$B$4</c:f>
              <c:numCache>
                <c:formatCode>General</c:formatCode>
                <c:ptCount val="3"/>
                <c:pt idx="0">
                  <c:v>3.52</c:v>
                </c:pt>
                <c:pt idx="1">
                  <c:v>3.99</c:v>
                </c:pt>
                <c:pt idx="2">
                  <c:v>2.36</c:v>
                </c:pt>
              </c:numCache>
            </c:numRef>
          </c:val>
        </c:ser>
        <c:ser>
          <c:idx val="1"/>
          <c:order val="1"/>
          <c:tx>
            <c:strRef>
              <c:f>Sheet1!$C$1</c:f>
              <c:strCache>
                <c:ptCount val="1"/>
                <c:pt idx="0">
                  <c:v>Random 20 clips</c:v>
                </c:pt>
              </c:strCache>
            </c:strRef>
          </c:tx>
          <c:spPr>
            <a:solidFill>
              <a:srgbClr val="2F7D6D"/>
            </a:solidFill>
            <a:effectLst/>
          </c:spPr>
          <c:invertIfNegative val="0"/>
          <c:dLbls>
            <c:numFmt formatCode="0.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Sheet1!$A$2:$A$4</c:f>
              <c:multiLvlStrCache>
                <c:ptCount val="3"/>
                <c:lvl>
                  <c:pt idx="0">
                    <c:v>Direct</c:v>
                  </c:pt>
                  <c:pt idx="1">
                    <c:v>Held out</c:v>
                  </c:pt>
                  <c:pt idx="2">
                    <c:v>Rigid floor</c:v>
                  </c:pt>
                </c:lvl>
              </c:multiLvlStrCache>
            </c:multiLvlStrRef>
          </c:cat>
          <c:val>
            <c:numRef>
              <c:f>Sheet1!$C$2:$C$4</c:f>
              <c:numCache>
                <c:formatCode>General</c:formatCode>
                <c:ptCount val="3"/>
                <c:pt idx="0">
                  <c:v>3.13</c:v>
                </c:pt>
                <c:pt idx="1">
                  <c:v>3.37</c:v>
                </c:pt>
                <c:pt idx="2">
                  <c:v>1.91</c:v>
                </c:pt>
              </c:numCache>
            </c:numRef>
          </c:val>
        </c:ser>
        <c:dLbls>
          <c:numFmt formatCode="0.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1E"/>
                </a:solidFill>
                <a:latin typeface="+mn-lt"/>
              </a:defRPr>
            </a:pPr>
            <a:r>
              <a:rPr sz="1400" b="0" i="0" u="none" strike="noStrike">
                <a:solidFill>
                  <a:srgbClr val="1B1F1E"/>
                </a:solidFill>
                <a:latin typeface="+mn-lt"/>
              </a:rPr>
              <a:t>Share of squared error that is constant over the clip (%)</a:t>
            </a:r>
          </a:p>
        </c:rich>
      </c:tx>
      <c:layout/>
      <c:overlay val="0"/>
    </c:title>
    <c:autoTitleDeleted val="0"/>
    <c:plotArea>
      <c:layout/>
      <c:barChart>
        <c:barDir val="col"/>
        <c:grouping val="clustered"/>
        <c:varyColors val="0"/>
        <c:ser>
          <c:idx val="0"/>
          <c:order val="0"/>
          <c:tx>
            <c:strRef>
              <c:f>Sheet1!$B$1</c:f>
              <c:strCache>
                <c:ptCount val="1"/>
                <c:pt idx="0">
                  <c:v>Body</c:v>
                </c:pt>
              </c:strCache>
            </c:strRef>
          </c:tx>
          <c:spPr>
            <a:solidFill>
              <a:srgbClr val="2F7D6D"/>
            </a:solidFill>
            <a:effectLst/>
          </c:spPr>
          <c:invertIfNegative val="0"/>
          <c:dLbls>
            <c:numFmt formatCode="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Sheet1!$A$2:$A$7</c:f>
              <c:multiLvlStrCache>
                <c:ptCount val="6"/>
                <c:lvl>
                  <c:pt idx="0">
                    <c:v>05631</c:v>
                  </c:pt>
                  <c:pt idx="1">
                    <c:v>28111</c:v>
                  </c:pt>
                  <c:pt idx="2">
                    <c:v>63229</c:v>
                  </c:pt>
                  <c:pt idx="3">
                    <c:v>08917</c:v>
                  </c:pt>
                  <c:pt idx="4">
                    <c:v>69257</c:v>
                  </c:pt>
                  <c:pt idx="5">
                    <c:v>09849</c:v>
                  </c:pt>
                </c:lvl>
              </c:multiLvlStrCache>
            </c:multiLvlStrRef>
          </c:cat>
          <c:val>
            <c:numRef>
              <c:f>Sheet1!$B$2:$B$7</c:f>
              <c:numCache>
                <c:formatCode>General</c:formatCode>
                <c:ptCount val="6"/>
                <c:pt idx="0">
                  <c:v>74</c:v>
                </c:pt>
                <c:pt idx="1">
                  <c:v>72</c:v>
                </c:pt>
                <c:pt idx="2">
                  <c:v>69</c:v>
                </c:pt>
                <c:pt idx="3">
                  <c:v>61</c:v>
                </c:pt>
                <c:pt idx="4">
                  <c:v>11</c:v>
                </c:pt>
                <c:pt idx="5">
                  <c:v>18</c:v>
                </c:pt>
              </c:numCache>
            </c:numRef>
          </c:val>
        </c:ser>
        <c:ser>
          <c:idx val="1"/>
          <c:order val="1"/>
          <c:tx>
            <c:strRef>
              <c:f>Sheet1!$C$1</c:f>
              <c:strCache>
                <c:ptCount val="1"/>
                <c:pt idx="0">
                  <c:v>Right hand</c:v>
                </c:pt>
              </c:strCache>
            </c:strRef>
          </c:tx>
          <c:spPr>
            <a:solidFill>
              <a:srgbClr val="E07A2E"/>
            </a:solidFill>
            <a:effectLst/>
          </c:spPr>
          <c:invertIfNegative val="0"/>
          <c:dLbls>
            <c:numFmt formatCode="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Sheet1!$A$2:$A$7</c:f>
              <c:multiLvlStrCache>
                <c:ptCount val="6"/>
                <c:lvl>
                  <c:pt idx="0">
                    <c:v>05631</c:v>
                  </c:pt>
                  <c:pt idx="1">
                    <c:v>28111</c:v>
                  </c:pt>
                  <c:pt idx="2">
                    <c:v>63229</c:v>
                  </c:pt>
                  <c:pt idx="3">
                    <c:v>08917</c:v>
                  </c:pt>
                  <c:pt idx="4">
                    <c:v>69257</c:v>
                  </c:pt>
                  <c:pt idx="5">
                    <c:v>09849</c:v>
                  </c:pt>
                </c:lvl>
              </c:multiLvlStrCache>
            </c:multiLvlStrRef>
          </c:cat>
          <c:val>
            <c:numRef>
              <c:f>Sheet1!$C$2:$C$7</c:f>
              <c:numCache>
                <c:formatCode>General</c:formatCode>
                <c:ptCount val="6"/>
                <c:pt idx="0">
                  <c:v>14</c:v>
                </c:pt>
                <c:pt idx="1">
                  <c:v>18</c:v>
                </c:pt>
                <c:pt idx="2">
                  <c:v>33</c:v>
                </c:pt>
                <c:pt idx="3">
                  <c:v>45</c:v>
                </c:pt>
                <c:pt idx="4">
                  <c:v>27</c:v>
                </c:pt>
                <c:pt idx="5">
                  <c:v>31</c:v>
                </c:pt>
              </c:numCache>
            </c:numRef>
          </c:val>
        </c:ser>
        <c:dLbls>
          <c:numFmt formatCode="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1E"/>
                </a:solidFill>
                <a:latin typeface="+mn-lt"/>
              </a:defRPr>
            </a:pPr>
            <a:r>
              <a:rPr sz="1400" b="0" i="0" u="none" strike="noStrike">
                <a:solidFill>
                  <a:srgbClr val="1B1F1E"/>
                </a:solidFill>
                <a:latin typeface="+mn-lt"/>
              </a:rPr>
              <a:t>Right-hand jitter (median 2nd difference, mm)</a:t>
            </a:r>
          </a:p>
        </c:rich>
      </c:tx>
      <c:layout/>
      <c:overlay val="0"/>
    </c:title>
    <c:autoTitleDeleted val="0"/>
    <c:plotArea>
      <c:layout/>
      <c:barChart>
        <c:barDir val="col"/>
        <c:grouping val="clustered"/>
        <c:varyColors val="0"/>
        <c:ser>
          <c:idx val="0"/>
          <c:order val="0"/>
          <c:tx>
            <c:strRef>
              <c:f>Sheet1!$B$1</c:f>
              <c:strCache>
                <c:ptCount val="1"/>
                <c:pt idx="0">
                  <c:v>MediaPipe input</c:v>
                </c:pt>
              </c:strCache>
            </c:strRef>
          </c:tx>
          <c:spPr>
            <a:solidFill>
              <a:srgbClr val="7D8C87"/>
            </a:solidFill>
            <a:effectLst/>
          </c:spPr>
          <c:invertIfNegative val="0"/>
          <c:dLbls>
            <c:numFmt formatCode="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Sheet1!$A$2:$A$6</c:f>
              <c:multiLvlStrCache>
                <c:ptCount val="5"/>
                <c:lvl>
                  <c:pt idx="0">
                    <c:v>01988</c:v>
                  </c:pt>
                  <c:pt idx="1">
                    <c:v>28111</c:v>
                  </c:pt>
                  <c:pt idx="2">
                    <c:v>69257</c:v>
                  </c:pt>
                  <c:pt idx="3">
                    <c:v>05631</c:v>
                  </c:pt>
                  <c:pt idx="4">
                    <c:v>09849</c:v>
                  </c:pt>
                </c:lvl>
              </c:multiLvlStrCache>
            </c:multiLvlStrRef>
          </c:cat>
          <c:val>
            <c:numRef>
              <c:f>Sheet1!$B$2:$B$6</c:f>
              <c:numCache>
                <c:formatCode>General</c:formatCode>
                <c:ptCount val="5"/>
                <c:pt idx="0">
                  <c:v>12.11</c:v>
                </c:pt>
                <c:pt idx="1">
                  <c:v>18.05</c:v>
                </c:pt>
                <c:pt idx="2">
                  <c:v>11.59</c:v>
                </c:pt>
                <c:pt idx="3">
                  <c:v>14.58</c:v>
                </c:pt>
                <c:pt idx="4">
                  <c:v>14.05</c:v>
                </c:pt>
              </c:numCache>
            </c:numRef>
          </c:val>
        </c:ser>
        <c:ser>
          <c:idx val="1"/>
          <c:order val="1"/>
          <c:tx>
            <c:strRef>
              <c:f>Sheet1!$C$1</c:f>
              <c:strCache>
                <c:ptCount val="1"/>
                <c:pt idx="0">
                  <c:v>Raw round trip</c:v>
                </c:pt>
              </c:strCache>
            </c:strRef>
          </c:tx>
          <c:spPr>
            <a:solidFill>
              <a:srgbClr val="A9C7BD"/>
            </a:solidFill>
            <a:effectLst/>
          </c:spPr>
          <c:invertIfNegative val="0"/>
          <c:dLbls>
            <c:numFmt formatCode="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Sheet1!$A$2:$A$6</c:f>
              <c:multiLvlStrCache>
                <c:ptCount val="5"/>
                <c:lvl>
                  <c:pt idx="0">
                    <c:v>01988</c:v>
                  </c:pt>
                  <c:pt idx="1">
                    <c:v>28111</c:v>
                  </c:pt>
                  <c:pt idx="2">
                    <c:v>69257</c:v>
                  </c:pt>
                  <c:pt idx="3">
                    <c:v>05631</c:v>
                  </c:pt>
                  <c:pt idx="4">
                    <c:v>09849</c:v>
                  </c:pt>
                </c:lvl>
              </c:multiLvlStrCache>
            </c:multiLvlStrRef>
          </c:cat>
          <c:val>
            <c:numRef>
              <c:f>Sheet1!$C$2:$C$6</c:f>
              <c:numCache>
                <c:formatCode>General</c:formatCode>
                <c:ptCount val="5"/>
                <c:pt idx="0">
                  <c:v>12.07</c:v>
                </c:pt>
                <c:pt idx="1">
                  <c:v>16.75</c:v>
                </c:pt>
                <c:pt idx="2">
                  <c:v>11.38</c:v>
                </c:pt>
                <c:pt idx="3">
                  <c:v>14.06</c:v>
                </c:pt>
                <c:pt idx="4">
                  <c:v>12.63</c:v>
                </c:pt>
              </c:numCache>
            </c:numRef>
          </c:val>
        </c:ser>
        <c:ser>
          <c:idx val="2"/>
          <c:order val="2"/>
          <c:tx>
            <c:strRef>
              <c:f>Sheet1!$D$1</c:f>
              <c:strCache>
                <c:ptCount val="1"/>
                <c:pt idx="0">
                  <c:v>Parameters smoothed (σ = 1.5 frames)</c:v>
                </c:pt>
              </c:strCache>
            </c:strRef>
          </c:tx>
          <c:spPr>
            <a:solidFill>
              <a:srgbClr val="2F7D6D"/>
            </a:solidFill>
            <a:effectLst/>
          </c:spPr>
          <c:invertIfNegative val="0"/>
          <c:dLbls>
            <c:numFmt formatCode="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cat>
            <c:multiLvlStrRef>
              <c:f>Sheet1!$A$2:$A$6</c:f>
              <c:multiLvlStrCache>
                <c:ptCount val="5"/>
                <c:lvl>
                  <c:pt idx="0">
                    <c:v>01988</c:v>
                  </c:pt>
                  <c:pt idx="1">
                    <c:v>28111</c:v>
                  </c:pt>
                  <c:pt idx="2">
                    <c:v>69257</c:v>
                  </c:pt>
                  <c:pt idx="3">
                    <c:v>05631</c:v>
                  </c:pt>
                  <c:pt idx="4">
                    <c:v>09849</c:v>
                  </c:pt>
                </c:lvl>
              </c:multiLvlStrCache>
            </c:multiLvlStrRef>
          </c:cat>
          <c:val>
            <c:numRef>
              <c:f>Sheet1!$D$2:$D$6</c:f>
              <c:numCache>
                <c:formatCode>General</c:formatCode>
                <c:ptCount val="5"/>
                <c:pt idx="0">
                  <c:v>2.17</c:v>
                </c:pt>
                <c:pt idx="1">
                  <c:v>3.47</c:v>
                </c:pt>
                <c:pt idx="2">
                  <c:v>3.13</c:v>
                </c:pt>
                <c:pt idx="3">
                  <c:v>3.03</c:v>
                </c:pt>
                <c:pt idx="4">
                  <c:v>2.7</c:v>
                </c:pt>
              </c:numCache>
            </c:numRef>
          </c:val>
        </c:ser>
        <c:dLbls>
          <c:numFmt formatCode="0.0" sourceLinked="0"/>
          <c:txPr>
            <a:bodyPr/>
            <a:lstStyle/>
            <a:p>
              <a:pPr>
                <a:defRPr b="0" i="0" strike="noStrike" sz="1100" u="none">
                  <a:solidFill>
                    <a:srgbClr val="1B1F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E"/>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DD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D8C87"/>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since the V1.2 hand findings. Three threads: the round trip on unseen clips, an evidence base for meaning-preserving augmentation with a first trial, and the V1.3 face pipeline (head, jaw, hand-to-face geometry, face stream). Sources: docs/Week_2_Findings.md, docs/Augmentation_Grounding.md, and on feat/face-v1.3 docs/V1_3_Findings.md, V1_3_Training_Data_Audit.md, V1_3_Face_Integration_Results.md.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Exact figures: body round-trip error 3.13% of shoulder width on 20 unseen WLASL clips (pilot 3.52%); shoulder width is about 31 cm, so about 1 cm. MANO hands 5.10 mm mean. Smoothing: Gaussian smoothing of the fitted SMPL-X/MANO parameters (sigma 1.5 frames) cut right-hand jitter 3.6–5.6x with bone-length variation 0.4–1.4%, against 2.7–12.3% when smoothing output points; peak wrist speed fell 35–56%. First trial: elbows +15° and shoulders +10° moved the wrists 94–115 mm, 3–4x SPOTER's ±4°. Face: head pose agrees with FaceLandmarker to 0.58° median; median hand-to-head depth gap on near-face frames 0.18 m, contact in 0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findings, 2026-10-07. 20 clips drawn at random (seed 20261007) from 329 non-pilot WLASL clips, 1,236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medians match the pilot within noise. Hands do better than on the pilot: the pilot hands were the hard case. The hand mean misses its target by 0.1 mm. Limits: same WLASL pool, some clips share a signer (08917/08918), only 6 of 20 clips have a scored left hand, and hand detection covers 42% of side-frames. The per-clip spread is wider than the pilot (1.44–5.52%), ledger O8.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top-ranked body clips by median error look fine on video: a steady offset of the elbow. So whether a clip is safe to augment should depend on the varying error and outliers, not the total. The agreed plan is to split error into systematic (shape-explained), varying (detector) and conversion-added parts, then set thresholds from what those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Variants compared: running average of outputs, centred Gaussian of outputs, centred Gaussian of fitted parameters at sigma 1, 1.5, 2.5. Smoothing outputs breaks bone lengths (CV up to 12%); smoothing parameters keeps them near the raw 1.1–1.5%. Body arms show the same pattern, e.g. 01988 jitter 1.28 → 0.47. The open risk is that brief sign motion is flattened, so the face audit recommends treating smoothing as an ablation with onset and peak timing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docs/Augmentation_Grounding.md (2026-10-11), with source-level evidence in docs/augmentation-evidence/linguistics.md and slr_augmentation.md. Each claim there carries a URL and verification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tagged L1.3 (five parameters, minimal pairs), L5.1–5.3 (categorical perception for handshape but not place), L6.2–6.4 (rate vs aspect, telicity), L7.3 (lexical mouthing), L3.1 (handedness), L2.1–2.6 (location lowering, which acts on the higher member of a pair and avoids the eyes), L2.10 (register), L4.1–4.4 (weak drop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accuracies are top-1. Laines, Gonzalez-Mendoza and Ochoa-Ruiz, CVPR-W (LatinX) 2023, arXiv 2304.05403: skeleton converted to a tree-structure skeleton image and classified with DenseNet, 5-fold cross-validation on WLASL100; speed resamples each clip to 48–74 frames, flip p = 0.5, scale 0.5–1.0. Spoken2Sign (Zuo, Wei, Chen, Mak, Yang, Tong; arXiv 2401.04730) rotates SMPL-X global orientation by U[−20°, 20°] then projects to 2-D; figures are dev-set results for NLA-SLR-Keypoint-64. SPOTER (Boháček &amp; Hrúz, WACV Workshops 2022), Table 6: normalisation-only baseline 58.97%; each augmentation applied with probability 0.5; arm joints rotated with probability 0.3 by up to ±4°. AS-CAL (Rao et al., arXiv 2008.00188) is generic action recognition on NTU-60 (linear evaluation), not sign; STARS (Mehraban et al.) also found axis masking lowered accuracy. ASL Citizen (Desai et al., arXiv 2304.05934) gives the compound-sign rationale. Gap: no published work perturbs MANO hand pose under phonological constraints, so a constrained handshape augmentation would be new. Phonology as auxiliary targets (Kezar et al. 2023) gave +8.7 points on WLASL.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version of the three tiers in docs/Augmentation_Grounding.md §3. Technical ranges. Tier 1: yaw of SMPL-X global_orient ±20° plus a few degrees of pitch; mirror with SMPL-X joints, MANO hands and face swapped; uniform rate 0.8–1.25x with no crop; shoulder, elbow and wrist each p = 0.3, ±4°, then a location check; whole-scene scale 0.85–1.15 about the shoulder centre, applied last; uncentring with both hands kept in frame. Tier 2 needs an ASL-LEX gate or an invariant check: movement size 0.85–1.15; location shifts (neutral space any direction, body-anchored forward/back and sideways, forehead signs lowered only); within-category MANO handshape jitter; body shape with arm IK retargeting; weak-hand drop only for symmetrical, no-contact, non-alternating signs; detector-failure masking of joints or runs of 8 frames or fewer. Excluded: crossing a category, non-uniform time warps or added repetitions/holds, temporal reversal and aggressive crops, one-hand mirroring, changing lexical mouthing or facial expression, shear and whole-axis masking.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augmentation draws its parameters once per clip and applies them to every frame. Yaw, mirror and scale act on the round trip's outputs (landmarks and mesh vertices), which is equivalent to editing the SMPL-X global orientation for a rigid transform. Mirror also reverses the mesh's triangle winding so normals stay outward. Zero strength reproduces the round trip to at most 3e-8 m for every augmentation. Scale x0.85 shortened upper arm and forearm by exactly 15% while the shoulder-centred, shoulder-width-normalised pose changed by 0.00%, which is why classifiers that normalise this way cancel it. The trial's +25° yaw is slightly beyond Spoken2Sign's tested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pose and body shape edit the SMPL-X parameters and rebuild landmarks and mesh from them; each MANO hand turns with its forearm. Off-centre adds one offset per clip to every landmark and vertex; MediaPipe's y axis points down, so +0.2 is downward. Elbow flex is applied in each frame's own bending plane. betas[0] +2 adds two standard deviations to the first shape coefficient. The time warp maps output time u to source time (T-1)(u + k sin(2 pi u)/(2 pi)), so source time advances at rate 1 + k cos(2 pi u), between 0.5 and 1.5, and never reverses. Body shape has no recognition-gain evidence, so it is lower priority than the Tier 1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literature gives no numeric tolerances, rejection replaces bounds: an augmented clip whose phonological properties changed is dropped. The location and contact rows depend on the V1.3 face geometry, which is why the face depth gap (Part 3) matters for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feat/face-v1.3. Design 2026-10-07, phase-A gate 2026-10-07, training-data audit and integration 2026-10-11. The face matters first as a solid landmark for hand location; expression is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MOTHER and FATHER differ only in location, so location relative to the face is a phonological parameter. The MediaPipe→SMPL-X correspondence comes from MPI's MediaPipe→FLAME embedding (105 points) transferred via the FLAME→SMPL-X vertex map. Expression fitting is out of scope; blendshapes stay a separate stream. Eye and Ear regions are generous (Ear radius 3.5 cm takes some temple).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run on the 20 evaluation clips: 1,236 frames, 143 hand-near-face. Synthetic recovery: head 0.42°, jaw 0.32°, ear midpoint 0.58 mm with the swing vs 23 mm at rest. The axis-convention check is real: with the flip removed the reviewer's clips read 3.2–10.6°, with the rotation inverted 7.8–12.6°. Jaw failures: 69364 (0.50) and 63665 (0.69). No face was detected anywhere in clip 09849.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63229, frame 24: MediaPipe flags the hand as near the face in 2-D, but in 3-D the index fingertip is 20.7 cm from the chin. Across 143 near-face frames the median gap is 0.181 m along the camera axis against 0.111 m in the image plane, and no hand point came closer than 0.137 m to the head. The gap is already present in MediaPipe's pose-world output: fingertip-to-nose depth difference 0.217 m when hands are placed by the pipeline's wrist-to-wrist rule. MediaPipe face z is relative and scaled like x under weak perspective, and hand world landmarks use a hand-centred metric origin, so the combined scene is a modelling choice, not a calibrated one. Bypass routes already in progress on feat/face-v1.3: image-space proximity at head depth, and depth-corrected wrists from the image (next slide). Open question O16.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correction re-aims the arm at a wrist depth inferred from the image and head scale. It re-fits joint directions with fixed bone lengths and a fixed first-pass translation, so the arm often cannot reach the target, yet the mesh's contact value is still exported. On the 6 evaluation clips 29 of 30 contacts had reached wrists, which is more encouraging, but there is no labelled contact reference. A 45° vs 63° field-of-view assumption shifts depth by 4.8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(2026-10-11): versioned per-clip archive (schema 1), adapter emitting body_hands, face, head and blendshape streams with same-shaped masks, and a masked multi-stream classifier. 19 focused tests pass. Missing values are filled only at the tensor boundary and stay false in their masks, so a missing face is distinguishable from a neutral face. Literature: CoSign's ablation cut WER from 27.8 to 22.8 by adding mouth keypoints, which motivates the test but does not predict a WLASL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carried over: O6, the elbow and shoulder joint-limit axes, which must be checked before any augmentation clamps poses to joint limits; and the ASL-LEX licence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trial rework and invariants can proceed now; recognition results wait on labels. Temporal smoothing joins the ablation with onset and peak timing checks rather than being switched on by default. Treat the 20 inspected clips as a development set from now on; they are no longer an untouched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3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63A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640080"/>
          </a:xfrm>
          <a:prstGeom prst="rect">
            <a:avLst/>
          </a:prstGeom>
          <a:noFill/>
          <a:ln/>
        </p:spPr>
        <p:txBody>
          <a:bodyPr wrap="square" rtlCol="0"/>
          <a:lstStyle>
            <a:lvl1pPr indent="0" marL="0">
              <a:buNone/>
              <a:defRPr lang="en-US" sz="2000" b="1" dirty="0">
                <a:solidFill>
                  <a:schemeClr val="accent1"/>
                </a:solidFill>
              </a:defRPr>
            </a:lvl1pPr>
          </a:lstStyle>
          <a:p>
            <a:pPr indent="0" marL="0">
              <a:buNone/>
            </a:pPr>
            <a:endParaRPr lang="en-US" sz="2000" dirty="0"/>
          </a:p>
        </p:txBody>
      </p:sp>
      <p:sp>
        <p:nvSpPr>
          <p:cNvPr id="3" name="Text 0"/>
          <p:cNvSpPr/>
          <p:nvPr>
            <p:ph idx="101" type="title" hasCustomPrompt="1"/>
          </p:nvPr>
        </p:nvSpPr>
        <p:spPr>
          <a:xfrm>
            <a:off x="731520" y="25603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840480"/>
            <a:ext cx="868680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KineticAugment · Week 2 progress</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63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4800" b="1" dirty="0">
                <a:solidFill>
                  <a:schemeClr val="bg1"/>
                </a:solidFill>
              </a:rPr>
              <a:t>Augmentation and the face</a:t>
            </a:r>
            <a:endParaRPr lang="en-US" sz="48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indent="0" marL="0">
              <a:buNone/>
            </a:pPr>
            <a:r>
              <a:rPr lang="en-US" sz="2000" dirty="0">
                <a:solidFill>
                  <a:schemeClr val="accent5"/>
                </a:solidFill>
              </a:rPr>
              <a:t>KineticAugment · Week 2 progress · 13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Four findings this week</a:t>
            </a:r>
            <a:endParaRPr lang="en-US" sz="3600" dirty="0"/>
          </a:p>
        </p:txBody>
      </p:sp>
      <p:sp>
        <p:nvSpPr>
          <p:cNvPr id="3" name="summary-card-1"/>
          <p:cNvSpPr/>
          <p:nvPr/>
        </p:nvSpPr>
        <p:spPr>
          <a:xfrm>
            <a:off x="548640" y="1371600"/>
            <a:ext cx="2567864" cy="4709160"/>
          </a:xfrm>
          <a:prstGeom prst="rect">
            <a:avLst/>
          </a:prstGeom>
          <a:solidFill>
            <a:schemeClr val="bg2"/>
          </a:solidFill>
          <a:ln/>
        </p:spPr>
      </p:sp>
      <p:sp>
        <p:nvSpPr>
          <p:cNvPr id="4" name="dot-1"/>
          <p:cNvSpPr/>
          <p:nvPr/>
        </p:nvSpPr>
        <p:spPr>
          <a:xfrm>
            <a:off x="777240" y="1554480"/>
            <a:ext cx="457200" cy="457200"/>
          </a:xfrm>
          <a:prstGeom prst="ellipse">
            <a:avLst/>
          </a:prstGeom>
          <a:solidFill>
            <a:schemeClr val="accent1"/>
          </a:solidFill>
          <a:ln/>
        </p:spPr>
      </p:sp>
      <p:sp>
        <p:nvSpPr>
          <p:cNvPr id="5" name="Text 3"/>
          <p:cNvSpPr txBox="1"/>
          <p:nvPr/>
        </p:nvSpPr>
        <p:spPr>
          <a:xfrm>
            <a:off x="7772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148840"/>
            <a:ext cx="2110664" cy="777240"/>
          </a:xfrm>
          <a:prstGeom prst="rect">
            <a:avLst/>
          </a:prstGeom>
          <a:noFill/>
          <a:ln/>
        </p:spPr>
        <p:txBody>
          <a:bodyPr wrap="square" lIns="0" tIns="0" rIns="0" bIns="0" rtlCol="0" anchor="t"/>
          <a:lstStyle/>
          <a:p>
            <a:pPr indent="0" marL="0">
              <a:buNone/>
            </a:pPr>
            <a:r>
              <a:rPr lang="en-US" sz="1700" b="1" dirty="0">
                <a:solidFill>
                  <a:schemeClr val="tx2"/>
                </a:solidFill>
              </a:rPr>
              <a:t>Our 3-D copy matches the video</a:t>
            </a:r>
            <a:endParaRPr lang="en-US" sz="1700" dirty="0"/>
          </a:p>
        </p:txBody>
      </p:sp>
      <p:sp>
        <p:nvSpPr>
          <p:cNvPr id="7" name="Text 5"/>
          <p:cNvSpPr txBox="1"/>
          <p:nvPr/>
        </p:nvSpPr>
        <p:spPr>
          <a:xfrm>
            <a:off x="777240" y="2971800"/>
            <a:ext cx="2110664" cy="1920240"/>
          </a:xfrm>
          <a:prstGeom prst="rect">
            <a:avLst/>
          </a:prstGeom>
          <a:noFill/>
          <a:ln/>
        </p:spPr>
        <p:txBody>
          <a:bodyPr wrap="square" lIns="0" tIns="0" rIns="0" bIns="0" rtlCol="0" anchor="t"/>
          <a:lstStyle/>
          <a:p>
            <a:pPr indent="0" marL="0">
              <a:buNone/>
            </a:pPr>
            <a:r>
              <a:rPr lang="en-US" sz="1400" dirty="0">
                <a:solidFill>
                  <a:schemeClr val="tx1"/>
                </a:solidFill>
              </a:rPr>
              <a:t>We turn the tracker's dots on a signer into a 3-D body, turn it back into dots, and measure how far each dot moved. On 20 new videos the body was off by about 1 cm and the fingers by about half a centimetre.</a:t>
            </a:r>
            <a:endParaRPr lang="en-US" sz="1400" dirty="0"/>
          </a:p>
        </p:txBody>
      </p:sp>
      <p:sp>
        <p:nvSpPr>
          <p:cNvPr id="8" name="Text 6"/>
          <p:cNvSpPr txBox="1"/>
          <p:nvPr/>
        </p:nvSpPr>
        <p:spPr>
          <a:xfrm>
            <a:off x="777240" y="4937760"/>
            <a:ext cx="2110664" cy="548640"/>
          </a:xfrm>
          <a:prstGeom prst="rect">
            <a:avLst/>
          </a:prstGeom>
          <a:noFill/>
          <a:ln/>
        </p:spPr>
        <p:txBody>
          <a:bodyPr wrap="square" lIns="0" tIns="0" rIns="0" bIns="0" rtlCol="0" anchor="b"/>
          <a:lstStyle/>
          <a:p>
            <a:pPr indent="0" marL="0">
              <a:buNone/>
            </a:pPr>
            <a:r>
              <a:rPr lang="en-US" sz="3000" b="1" dirty="0">
                <a:solidFill>
                  <a:schemeClr val="accent2"/>
                </a:solidFill>
              </a:rPr>
              <a:t>≈ 1 cm</a:t>
            </a:r>
            <a:endParaRPr lang="en-US" sz="3000" dirty="0"/>
          </a:p>
        </p:txBody>
      </p:sp>
      <p:sp>
        <p:nvSpPr>
          <p:cNvPr id="9" name="Text 7"/>
          <p:cNvSpPr txBox="1"/>
          <p:nvPr/>
        </p:nvSpPr>
        <p:spPr>
          <a:xfrm>
            <a:off x="777240" y="5532120"/>
            <a:ext cx="2110664" cy="457200"/>
          </a:xfrm>
          <a:prstGeom prst="rect">
            <a:avLst/>
          </a:prstGeom>
          <a:noFill/>
          <a:ln/>
        </p:spPr>
        <p:txBody>
          <a:bodyPr wrap="square" lIns="0" tIns="0" rIns="0" bIns="0" rtlCol="0" anchor="t"/>
          <a:lstStyle/>
          <a:p>
            <a:pPr indent="0" marL="0">
              <a:buNone/>
            </a:pPr>
            <a:r>
              <a:rPr lang="en-US" sz="1200" dirty="0">
                <a:solidFill>
                  <a:schemeClr val="accent3"/>
                </a:solidFill>
              </a:rPr>
              <a:t>body error (3% of shoulder width)</a:t>
            </a:r>
            <a:endParaRPr lang="en-US" sz="1200" dirty="0"/>
          </a:p>
        </p:txBody>
      </p:sp>
      <p:sp>
        <p:nvSpPr>
          <p:cNvPr id="10" name="summary-card-2"/>
          <p:cNvSpPr/>
          <p:nvPr/>
        </p:nvSpPr>
        <p:spPr>
          <a:xfrm>
            <a:off x="3390824" y="1371600"/>
            <a:ext cx="2567864" cy="4709160"/>
          </a:xfrm>
          <a:prstGeom prst="rect">
            <a:avLst/>
          </a:prstGeom>
          <a:solidFill>
            <a:schemeClr val="bg2"/>
          </a:solidFill>
          <a:ln/>
        </p:spPr>
      </p:sp>
      <p:sp>
        <p:nvSpPr>
          <p:cNvPr id="11" name="dot-2"/>
          <p:cNvSpPr/>
          <p:nvPr/>
        </p:nvSpPr>
        <p:spPr>
          <a:xfrm>
            <a:off x="3619424" y="1554480"/>
            <a:ext cx="457200" cy="457200"/>
          </a:xfrm>
          <a:prstGeom prst="ellipse">
            <a:avLst/>
          </a:prstGeom>
          <a:solidFill>
            <a:schemeClr val="accent1"/>
          </a:solidFill>
          <a:ln/>
        </p:spPr>
      </p:sp>
      <p:sp>
        <p:nvSpPr>
          <p:cNvPr id="12" name="Text 10"/>
          <p:cNvSpPr txBox="1"/>
          <p:nvPr/>
        </p:nvSpPr>
        <p:spPr>
          <a:xfrm>
            <a:off x="3619424"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3619424" y="2148840"/>
            <a:ext cx="2110664" cy="777240"/>
          </a:xfrm>
          <a:prstGeom prst="rect">
            <a:avLst/>
          </a:prstGeom>
          <a:noFill/>
          <a:ln/>
        </p:spPr>
        <p:txBody>
          <a:bodyPr wrap="square" lIns="0" tIns="0" rIns="0" bIns="0" rtlCol="0" anchor="t"/>
          <a:lstStyle/>
          <a:p>
            <a:pPr indent="0" marL="0">
              <a:buNone/>
            </a:pPr>
            <a:r>
              <a:rPr lang="en-US" sz="1700" b="1" dirty="0">
                <a:solidFill>
                  <a:schemeClr val="tx2"/>
                </a:solidFill>
              </a:rPr>
              <a:t>Smoothing stops the shaking</a:t>
            </a:r>
            <a:endParaRPr lang="en-US" sz="1700" dirty="0"/>
          </a:p>
        </p:txBody>
      </p:sp>
      <p:sp>
        <p:nvSpPr>
          <p:cNvPr id="14" name="Text 12"/>
          <p:cNvSpPr txBox="1"/>
          <p:nvPr/>
        </p:nvSpPr>
        <p:spPr>
          <a:xfrm>
            <a:off x="3619424" y="2971800"/>
            <a:ext cx="2110664" cy="1920240"/>
          </a:xfrm>
          <a:prstGeom prst="rect">
            <a:avLst/>
          </a:prstGeom>
          <a:noFill/>
          <a:ln/>
        </p:spPr>
        <p:txBody>
          <a:bodyPr wrap="square" lIns="0" tIns="0" rIns="0" bIns="0" rtlCol="0" anchor="t"/>
          <a:lstStyle/>
          <a:p>
            <a:pPr indent="0" marL="0">
              <a:buNone/>
            </a:pPr>
            <a:r>
              <a:rPr lang="en-US" sz="1400" dirty="0">
                <a:solidFill>
                  <a:schemeClr val="tx1"/>
                </a:solidFill>
              </a:rPr>
              <a:t>The tracker makes hands wobble from frame to frame. Instead of smoothing the dots, we smooth the joint angles over a few frames, so the bones keep their length. Catch: fast motions get a little softer.</a:t>
            </a:r>
            <a:endParaRPr lang="en-US" sz="1400" dirty="0"/>
          </a:p>
        </p:txBody>
      </p:sp>
      <p:sp>
        <p:nvSpPr>
          <p:cNvPr id="15" name="Text 13"/>
          <p:cNvSpPr txBox="1"/>
          <p:nvPr/>
        </p:nvSpPr>
        <p:spPr>
          <a:xfrm>
            <a:off x="3619424" y="4937760"/>
            <a:ext cx="2110664" cy="548640"/>
          </a:xfrm>
          <a:prstGeom prst="rect">
            <a:avLst/>
          </a:prstGeom>
          <a:noFill/>
          <a:ln/>
        </p:spPr>
        <p:txBody>
          <a:bodyPr wrap="square" lIns="0" tIns="0" rIns="0" bIns="0" rtlCol="0" anchor="b"/>
          <a:lstStyle/>
          <a:p>
            <a:pPr indent="0" marL="0">
              <a:buNone/>
            </a:pPr>
            <a:r>
              <a:rPr lang="en-US" sz="3000" b="1" dirty="0">
                <a:solidFill>
                  <a:schemeClr val="accent2"/>
                </a:solidFill>
              </a:rPr>
              <a:t>3.6–5.6×</a:t>
            </a:r>
            <a:endParaRPr lang="en-US" sz="3000" dirty="0"/>
          </a:p>
        </p:txBody>
      </p:sp>
      <p:sp>
        <p:nvSpPr>
          <p:cNvPr id="16" name="Text 14"/>
          <p:cNvSpPr txBox="1"/>
          <p:nvPr/>
        </p:nvSpPr>
        <p:spPr>
          <a:xfrm>
            <a:off x="3619424" y="5532120"/>
            <a:ext cx="2110664" cy="457200"/>
          </a:xfrm>
          <a:prstGeom prst="rect">
            <a:avLst/>
          </a:prstGeom>
          <a:noFill/>
          <a:ln/>
        </p:spPr>
        <p:txBody>
          <a:bodyPr wrap="square" lIns="0" tIns="0" rIns="0" bIns="0" rtlCol="0" anchor="t"/>
          <a:lstStyle/>
          <a:p>
            <a:pPr indent="0" marL="0">
              <a:buNone/>
            </a:pPr>
            <a:r>
              <a:rPr lang="en-US" sz="1200" dirty="0">
                <a:solidFill>
                  <a:schemeClr val="accent3"/>
                </a:solidFill>
              </a:rPr>
              <a:t>less hand shaking</a:t>
            </a:r>
            <a:endParaRPr lang="en-US" sz="1200" dirty="0"/>
          </a:p>
        </p:txBody>
      </p:sp>
      <p:sp>
        <p:nvSpPr>
          <p:cNvPr id="17" name="summary-card-3"/>
          <p:cNvSpPr/>
          <p:nvPr/>
        </p:nvSpPr>
        <p:spPr>
          <a:xfrm>
            <a:off x="6233008" y="1371600"/>
            <a:ext cx="2567864" cy="4709160"/>
          </a:xfrm>
          <a:prstGeom prst="rect">
            <a:avLst/>
          </a:prstGeom>
          <a:solidFill>
            <a:schemeClr val="bg2"/>
          </a:solidFill>
          <a:ln/>
        </p:spPr>
      </p:sp>
      <p:sp>
        <p:nvSpPr>
          <p:cNvPr id="18" name="dot-3"/>
          <p:cNvSpPr/>
          <p:nvPr/>
        </p:nvSpPr>
        <p:spPr>
          <a:xfrm>
            <a:off x="6461608" y="1554480"/>
            <a:ext cx="457200" cy="457200"/>
          </a:xfrm>
          <a:prstGeom prst="ellipse">
            <a:avLst/>
          </a:prstGeom>
          <a:solidFill>
            <a:schemeClr val="accent1"/>
          </a:solidFill>
          <a:ln/>
        </p:spPr>
      </p:sp>
      <p:sp>
        <p:nvSpPr>
          <p:cNvPr id="19" name="Text 17"/>
          <p:cNvSpPr txBox="1"/>
          <p:nvPr/>
        </p:nvSpPr>
        <p:spPr>
          <a:xfrm>
            <a:off x="6461608"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6461608" y="2148840"/>
            <a:ext cx="2110664" cy="777240"/>
          </a:xfrm>
          <a:prstGeom prst="rect">
            <a:avLst/>
          </a:prstGeom>
          <a:noFill/>
          <a:ln/>
        </p:spPr>
        <p:txBody>
          <a:bodyPr wrap="square" lIns="0" tIns="0" rIns="0" bIns="0" rtlCol="0" anchor="t"/>
          <a:lstStyle/>
          <a:p>
            <a:pPr indent="0" marL="0">
              <a:buNone/>
            </a:pPr>
            <a:r>
              <a:rPr lang="en-US" sz="1700" b="1" dirty="0">
                <a:solidFill>
                  <a:schemeClr val="tx2"/>
                </a:solidFill>
              </a:rPr>
              <a:t>We know which changes are safe</a:t>
            </a:r>
            <a:endParaRPr lang="en-US" sz="1700" dirty="0"/>
          </a:p>
        </p:txBody>
      </p:sp>
      <p:sp>
        <p:nvSpPr>
          <p:cNvPr id="21" name="Text 19"/>
          <p:cNvSpPr txBox="1"/>
          <p:nvPr/>
        </p:nvSpPr>
        <p:spPr>
          <a:xfrm>
            <a:off x="6461608" y="2971800"/>
            <a:ext cx="2110664" cy="1920240"/>
          </a:xfrm>
          <a:prstGeom prst="rect">
            <a:avLst/>
          </a:prstGeom>
          <a:noFill/>
          <a:ln/>
        </p:spPr>
        <p:txBody>
          <a:bodyPr wrap="square" lIns="0" tIns="0" rIns="0" bIns="0" rtlCol="0" anchor="t"/>
          <a:lstStyle/>
          <a:p>
            <a:pPr indent="0" marL="0">
              <a:buNone/>
            </a:pPr>
            <a:r>
              <a:rPr lang="en-US" sz="1400" dirty="0">
                <a:solidFill>
                  <a:schemeClr val="tx1"/>
                </a:solidFill>
              </a:rPr>
              <a:t>Sign-language research tells us which changes are safe, such as turning the camera or swapping hands. Our first test bent the arms too much: the hand moved far enough to land on a different spot.</a:t>
            </a:r>
            <a:endParaRPr lang="en-US" sz="1400" dirty="0"/>
          </a:p>
        </p:txBody>
      </p:sp>
      <p:sp>
        <p:nvSpPr>
          <p:cNvPr id="22" name="Text 20"/>
          <p:cNvSpPr txBox="1"/>
          <p:nvPr/>
        </p:nvSpPr>
        <p:spPr>
          <a:xfrm>
            <a:off x="6461608" y="4937760"/>
            <a:ext cx="2110664" cy="548640"/>
          </a:xfrm>
          <a:prstGeom prst="rect">
            <a:avLst/>
          </a:prstGeom>
          <a:noFill/>
          <a:ln/>
        </p:spPr>
        <p:txBody>
          <a:bodyPr wrap="square" lIns="0" tIns="0" rIns="0" bIns="0" rtlCol="0" anchor="b"/>
          <a:lstStyle/>
          <a:p>
            <a:pPr indent="0" marL="0">
              <a:buNone/>
            </a:pPr>
            <a:r>
              <a:rPr lang="en-US" sz="3000" b="1" dirty="0">
                <a:solidFill>
                  <a:schemeClr val="accent1"/>
                </a:solidFill>
              </a:rPr>
              <a:t>≈ 10 cm</a:t>
            </a:r>
            <a:endParaRPr lang="en-US" sz="3000" dirty="0"/>
          </a:p>
        </p:txBody>
      </p:sp>
      <p:sp>
        <p:nvSpPr>
          <p:cNvPr id="23" name="Text 21"/>
          <p:cNvSpPr txBox="1"/>
          <p:nvPr/>
        </p:nvSpPr>
        <p:spPr>
          <a:xfrm>
            <a:off x="6461608" y="5532120"/>
            <a:ext cx="2110664" cy="457200"/>
          </a:xfrm>
          <a:prstGeom prst="rect">
            <a:avLst/>
          </a:prstGeom>
          <a:noFill/>
          <a:ln/>
        </p:spPr>
        <p:txBody>
          <a:bodyPr wrap="square" lIns="0" tIns="0" rIns="0" bIns="0" rtlCol="0" anchor="t"/>
          <a:lstStyle/>
          <a:p>
            <a:pPr indent="0" marL="0">
              <a:buNone/>
            </a:pPr>
            <a:r>
              <a:rPr lang="en-US" sz="1200" dirty="0">
                <a:solidFill>
                  <a:schemeClr val="accent3"/>
                </a:solidFill>
              </a:rPr>
              <a:t>hand moved in the first test (too far)</a:t>
            </a:r>
            <a:endParaRPr lang="en-US" sz="1200" dirty="0"/>
          </a:p>
        </p:txBody>
      </p:sp>
      <p:sp>
        <p:nvSpPr>
          <p:cNvPr id="24" name="summary-card-4"/>
          <p:cNvSpPr/>
          <p:nvPr/>
        </p:nvSpPr>
        <p:spPr>
          <a:xfrm>
            <a:off x="9075191" y="1371600"/>
            <a:ext cx="2567864" cy="4709160"/>
          </a:xfrm>
          <a:prstGeom prst="rect">
            <a:avLst/>
          </a:prstGeom>
          <a:solidFill>
            <a:schemeClr val="bg2"/>
          </a:solidFill>
          <a:ln/>
        </p:spPr>
      </p:sp>
      <p:sp>
        <p:nvSpPr>
          <p:cNvPr id="25" name="dot-4"/>
          <p:cNvSpPr/>
          <p:nvPr/>
        </p:nvSpPr>
        <p:spPr>
          <a:xfrm>
            <a:off x="9303791" y="1554480"/>
            <a:ext cx="457200" cy="457200"/>
          </a:xfrm>
          <a:prstGeom prst="ellipse">
            <a:avLst/>
          </a:prstGeom>
          <a:solidFill>
            <a:schemeClr val="accent1"/>
          </a:solidFill>
          <a:ln/>
        </p:spPr>
      </p:sp>
      <p:sp>
        <p:nvSpPr>
          <p:cNvPr id="26" name="Text 24"/>
          <p:cNvSpPr txBox="1"/>
          <p:nvPr/>
        </p:nvSpPr>
        <p:spPr>
          <a:xfrm>
            <a:off x="9303791"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5"/>
          <p:cNvSpPr txBox="1"/>
          <p:nvPr/>
        </p:nvSpPr>
        <p:spPr>
          <a:xfrm>
            <a:off x="9303791" y="2148840"/>
            <a:ext cx="2110664" cy="777240"/>
          </a:xfrm>
          <a:prstGeom prst="rect">
            <a:avLst/>
          </a:prstGeom>
          <a:noFill/>
          <a:ln/>
        </p:spPr>
        <p:txBody>
          <a:bodyPr wrap="square" lIns="0" tIns="0" rIns="0" bIns="0" rtlCol="0" anchor="t"/>
          <a:lstStyle/>
          <a:p>
            <a:pPr indent="0" marL="0">
              <a:buNone/>
            </a:pPr>
            <a:r>
              <a:rPr lang="en-US" sz="1700" b="1" dirty="0">
                <a:solidFill>
                  <a:schemeClr val="tx2"/>
                </a:solidFill>
              </a:rPr>
              <a:t>The face works; hands float</a:t>
            </a:r>
            <a:endParaRPr lang="en-US" sz="1700" dirty="0"/>
          </a:p>
        </p:txBody>
      </p:sp>
      <p:sp>
        <p:nvSpPr>
          <p:cNvPr id="28" name="Text 26"/>
          <p:cNvSpPr txBox="1"/>
          <p:nvPr/>
        </p:nvSpPr>
        <p:spPr>
          <a:xfrm>
            <a:off x="9303791" y="2971800"/>
            <a:ext cx="2110664" cy="1920240"/>
          </a:xfrm>
          <a:prstGeom prst="rect">
            <a:avLst/>
          </a:prstGeom>
          <a:noFill/>
          <a:ln/>
        </p:spPr>
        <p:txBody>
          <a:bodyPr wrap="square" lIns="0" tIns="0" rIns="0" bIns="0" rtlCol="0" anchor="t"/>
          <a:lstStyle/>
          <a:p>
            <a:pPr indent="0" marL="0">
              <a:buNone/>
            </a:pPr>
            <a:r>
              <a:rPr lang="en-US" sz="1400" dirty="0">
                <a:solidFill>
                  <a:schemeClr val="tx1"/>
                </a:solidFill>
              </a:rPr>
              <a:t>Our 3-D head turns the same way as the real head, to within 1°. But when a signer touches their chin, our 3-D hand sits well in front of the face, so we can't yet detect touching.</a:t>
            </a:r>
            <a:endParaRPr lang="en-US" sz="1400" dirty="0"/>
          </a:p>
        </p:txBody>
      </p:sp>
      <p:sp>
        <p:nvSpPr>
          <p:cNvPr id="29" name="Text 27"/>
          <p:cNvSpPr txBox="1"/>
          <p:nvPr/>
        </p:nvSpPr>
        <p:spPr>
          <a:xfrm>
            <a:off x="9303791" y="4937760"/>
            <a:ext cx="2110664" cy="548640"/>
          </a:xfrm>
          <a:prstGeom prst="rect">
            <a:avLst/>
          </a:prstGeom>
          <a:noFill/>
          <a:ln/>
        </p:spPr>
        <p:txBody>
          <a:bodyPr wrap="square" lIns="0" tIns="0" rIns="0" bIns="0" rtlCol="0" anchor="b"/>
          <a:lstStyle/>
          <a:p>
            <a:pPr indent="0" marL="0">
              <a:buNone/>
            </a:pPr>
            <a:r>
              <a:rPr lang="en-US" sz="3000" b="1" dirty="0">
                <a:solidFill>
                  <a:schemeClr val="accent4"/>
                </a:solidFill>
              </a:rPr>
              <a:t>18 cm</a:t>
            </a:r>
            <a:endParaRPr lang="en-US" sz="3000" dirty="0"/>
          </a:p>
        </p:txBody>
      </p:sp>
      <p:sp>
        <p:nvSpPr>
          <p:cNvPr id="30" name="Text 28"/>
          <p:cNvSpPr txBox="1"/>
          <p:nvPr/>
        </p:nvSpPr>
        <p:spPr>
          <a:xfrm>
            <a:off x="9303791" y="5532120"/>
            <a:ext cx="2110664" cy="457200"/>
          </a:xfrm>
          <a:prstGeom prst="rect">
            <a:avLst/>
          </a:prstGeom>
          <a:noFill/>
          <a:ln/>
        </p:spPr>
        <p:txBody>
          <a:bodyPr wrap="square" lIns="0" tIns="0" rIns="0" bIns="0" rtlCol="0" anchor="t"/>
          <a:lstStyle/>
          <a:p>
            <a:pPr indent="0" marL="0">
              <a:buNone/>
            </a:pPr>
            <a:r>
              <a:rPr lang="en-US" sz="1200" dirty="0">
                <a:solidFill>
                  <a:schemeClr val="accent3"/>
                </a:solidFill>
              </a:rPr>
              <a:t>gap between hand and face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640080"/>
          </a:xfrm>
          <a:prstGeom prst="rect">
            <a:avLst/>
          </a:prstGeom>
          <a:noFill/>
          <a:ln/>
        </p:spPr>
        <p:txBody>
          <a:bodyPr wrap="square" lIns="0" tIns="0" rIns="0" bIns="0" rtlCol="0" anchor="b"/>
          <a:lstStyle/>
          <a:p>
            <a:pPr indent="0" marL="0">
              <a:buNone/>
            </a:pPr>
            <a:r>
              <a:rPr lang="en-US" sz="2000" b="1" dirty="0">
                <a:solidFill>
                  <a:schemeClr val="accent1"/>
                </a:solidFill>
              </a:rPr>
              <a:t>Part 1</a:t>
            </a:r>
            <a:endParaRPr lang="en-US" sz="2000" dirty="0"/>
          </a:p>
        </p:txBody>
      </p:sp>
      <p:sp>
        <p:nvSpPr>
          <p:cNvPr id="3" name="Text 0"/>
          <p:cNvSpPr/>
          <p:nvPr>
            <p:ph idx="101" type="title" hasCustomPrompt="1"/>
          </p:nvPr>
        </p:nvSpPr>
        <p:spPr>
          <a:xfrm>
            <a:off x="731520" y="25603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Round trip on unseen footage</a:t>
            </a:r>
            <a:endParaRPr lang="en-US" sz="4400" dirty="0"/>
          </a:p>
        </p:txBody>
      </p:sp>
      <p:sp>
        <p:nvSpPr>
          <p:cNvPr id="4" name="Text 0"/>
          <p:cNvSpPr/>
          <p:nvPr>
            <p:ph idx="102" type="body" hasCustomPrompt="1"/>
          </p:nvPr>
        </p:nvSpPr>
        <p:spPr>
          <a:xfrm>
            <a:off x="731520" y="384048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Does MediaPipe → SMPL-X/MANO → MediaPipe hold on clips it has never seen, and what is its remaining error made of?</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The round trip transfers to unseen clips</a:t>
            </a:r>
            <a:endParaRPr lang="en-US" sz="3600" dirty="0"/>
          </a:p>
        </p:txBody>
      </p:sp>
      <p:graphicFrame>
        <p:nvGraphicFramePr>
          <p:cNvPr id="3"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06640" y="1371600"/>
            <a:ext cx="4206240" cy="365760"/>
          </a:xfrm>
          <a:prstGeom prst="rect">
            <a:avLst/>
          </a:prstGeom>
          <a:noFill/>
          <a:ln/>
        </p:spPr>
        <p:txBody>
          <a:bodyPr wrap="square" lIns="0" tIns="0" rIns="0" bIns="0" rtlCol="0" anchor="ctr"/>
          <a:lstStyle/>
          <a:p>
            <a:pPr indent="0" marL="0">
              <a:buNone/>
            </a:pPr>
            <a:r>
              <a:rPr lang="en-US" sz="1600" b="1" dirty="0">
                <a:solidFill>
                  <a:schemeClr val="tx2"/>
                </a:solidFill>
              </a:rPr>
              <a:t>MANO hands, random 20 (26 tracks)</a:t>
            </a:r>
            <a:endParaRPr lang="en-US" sz="1600" dirty="0"/>
          </a:p>
        </p:txBody>
      </p:sp>
      <p:sp>
        <p:nvSpPr>
          <p:cNvPr id="5" name="Text 2"/>
          <p:cNvSpPr txBox="1"/>
          <p:nvPr/>
        </p:nvSpPr>
        <p:spPr>
          <a:xfrm>
            <a:off x="7406640" y="1874520"/>
            <a:ext cx="4206240" cy="594360"/>
          </a:xfrm>
          <a:prstGeom prst="rect">
            <a:avLst/>
          </a:prstGeom>
          <a:noFill/>
          <a:ln/>
        </p:spPr>
        <p:txBody>
          <a:bodyPr wrap="square" lIns="0" tIns="0" rIns="0" bIns="0" rtlCol="0" anchor="b"/>
          <a:lstStyle/>
          <a:p>
            <a:pPr indent="0" marL="0">
              <a:buNone/>
            </a:pPr>
            <a:r>
              <a:rPr lang="en-US" sz="3400" b="1" dirty="0">
                <a:solidFill>
                  <a:schemeClr val="accent1"/>
                </a:solidFill>
              </a:rPr>
              <a:t>5.10 mm</a:t>
            </a:r>
            <a:endParaRPr lang="en-US" sz="3400" dirty="0"/>
          </a:p>
        </p:txBody>
      </p:sp>
      <p:sp>
        <p:nvSpPr>
          <p:cNvPr id="6" name="Text 3"/>
          <p:cNvSpPr txBox="1"/>
          <p:nvPr/>
        </p:nvSpPr>
        <p:spPr>
          <a:xfrm>
            <a:off x="7406640" y="2496312"/>
            <a:ext cx="4206240" cy="365760"/>
          </a:xfrm>
          <a:prstGeom prst="rect">
            <a:avLst/>
          </a:prstGeom>
          <a:noFill/>
          <a:ln/>
        </p:spPr>
        <p:txBody>
          <a:bodyPr wrap="square" lIns="0" tIns="0" rIns="0" bIns="0" rtlCol="0" anchor="ctr"/>
          <a:lstStyle/>
          <a:p>
            <a:pPr indent="0" marL="0">
              <a:buNone/>
            </a:pPr>
            <a:r>
              <a:rPr lang="en-US" sz="1400" dirty="0">
                <a:solidFill>
                  <a:schemeClr val="tx1"/>
                </a:solidFill>
              </a:rPr>
              <a:t>mean error · target ≤ 5 (pilot 7.38)</a:t>
            </a:r>
            <a:endParaRPr lang="en-US" sz="1400" dirty="0"/>
          </a:p>
        </p:txBody>
      </p:sp>
      <p:sp>
        <p:nvSpPr>
          <p:cNvPr id="7" name="Text 4"/>
          <p:cNvSpPr txBox="1"/>
          <p:nvPr/>
        </p:nvSpPr>
        <p:spPr>
          <a:xfrm>
            <a:off x="7406640" y="3063240"/>
            <a:ext cx="4206240" cy="594360"/>
          </a:xfrm>
          <a:prstGeom prst="rect">
            <a:avLst/>
          </a:prstGeom>
          <a:noFill/>
          <a:ln/>
        </p:spPr>
        <p:txBody>
          <a:bodyPr wrap="square" lIns="0" tIns="0" rIns="0" bIns="0" rtlCol="0" anchor="b"/>
          <a:lstStyle/>
          <a:p>
            <a:pPr indent="0" marL="0">
              <a:buNone/>
            </a:pPr>
            <a:r>
              <a:rPr lang="en-US" sz="3400" b="1" dirty="0">
                <a:solidFill>
                  <a:schemeClr val="accent1"/>
                </a:solidFill>
              </a:rPr>
              <a:t>2.53 mm</a:t>
            </a:r>
            <a:endParaRPr lang="en-US" sz="3400" dirty="0"/>
          </a:p>
        </p:txBody>
      </p:sp>
      <p:sp>
        <p:nvSpPr>
          <p:cNvPr id="8" name="Text 5"/>
          <p:cNvSpPr txBox="1"/>
          <p:nvPr/>
        </p:nvSpPr>
        <p:spPr>
          <a:xfrm>
            <a:off x="7406640" y="3685032"/>
            <a:ext cx="4206240" cy="365760"/>
          </a:xfrm>
          <a:prstGeom prst="rect">
            <a:avLst/>
          </a:prstGeom>
          <a:noFill/>
          <a:ln/>
        </p:spPr>
        <p:txBody>
          <a:bodyPr wrap="square" lIns="0" tIns="0" rIns="0" bIns="0" rtlCol="0" anchor="ctr"/>
          <a:lstStyle/>
          <a:p>
            <a:pPr indent="0" marL="0">
              <a:buNone/>
            </a:pPr>
            <a:r>
              <a:rPr lang="en-US" sz="1400" dirty="0">
                <a:solidFill>
                  <a:schemeClr val="tx1"/>
                </a:solidFill>
              </a:rPr>
              <a:t>fingertips · target ≤ 8 (pilot 3.28)</a:t>
            </a:r>
            <a:endParaRPr lang="en-US" sz="1400" dirty="0"/>
          </a:p>
        </p:txBody>
      </p:sp>
      <p:sp>
        <p:nvSpPr>
          <p:cNvPr id="9" name="Text 6"/>
          <p:cNvSpPr txBox="1"/>
          <p:nvPr/>
        </p:nvSpPr>
        <p:spPr>
          <a:xfrm>
            <a:off x="7406640" y="4251960"/>
            <a:ext cx="4206240" cy="594360"/>
          </a:xfrm>
          <a:prstGeom prst="rect">
            <a:avLst/>
          </a:prstGeom>
          <a:noFill/>
          <a:ln/>
        </p:spPr>
        <p:txBody>
          <a:bodyPr wrap="square" lIns="0" tIns="0" rIns="0" bIns="0" rtlCol="0" anchor="b"/>
          <a:lstStyle/>
          <a:p>
            <a:pPr indent="0" marL="0">
              <a:buNone/>
            </a:pPr>
            <a:r>
              <a:rPr lang="en-US" sz="3400" b="1" dirty="0">
                <a:solidFill>
                  <a:schemeClr val="accent1"/>
                </a:solidFill>
              </a:rPr>
              <a:t>14.59 mm</a:t>
            </a:r>
            <a:endParaRPr lang="en-US" sz="3400" dirty="0"/>
          </a:p>
        </p:txBody>
      </p:sp>
      <p:sp>
        <p:nvSpPr>
          <p:cNvPr id="10" name="Text 7"/>
          <p:cNvSpPr txBox="1"/>
          <p:nvPr/>
        </p:nvSpPr>
        <p:spPr>
          <a:xfrm>
            <a:off x="7406640" y="4873752"/>
            <a:ext cx="4206240" cy="365760"/>
          </a:xfrm>
          <a:prstGeom prst="rect">
            <a:avLst/>
          </a:prstGeom>
          <a:noFill/>
          <a:ln/>
        </p:spPr>
        <p:txBody>
          <a:bodyPr wrap="square" lIns="0" tIns="0" rIns="0" bIns="0" rtlCol="0" anchor="ctr"/>
          <a:lstStyle/>
          <a:p>
            <a:pPr indent="0" marL="0">
              <a:buNone/>
            </a:pPr>
            <a:r>
              <a:rPr lang="en-US" sz="1400" dirty="0">
                <a:solidFill>
                  <a:schemeClr val="tx1"/>
                </a:solidFill>
              </a:rPr>
              <a:t>p95 · target ≤ 15 (pilot 20.89)</a:t>
            </a:r>
            <a:endParaRPr lang="en-US" sz="1400" dirty="0"/>
          </a:p>
        </p:txBody>
      </p:sp>
      <p:sp>
        <p:nvSpPr>
          <p:cNvPr id="11" name="Text 8"/>
          <p:cNvSpPr txBox="1"/>
          <p:nvPr/>
        </p:nvSpPr>
        <p:spPr>
          <a:xfrm>
            <a:off x="7406640" y="5440680"/>
            <a:ext cx="4206240" cy="548640"/>
          </a:xfrm>
          <a:prstGeom prst="rect">
            <a:avLst/>
          </a:prstGeom>
          <a:noFill/>
          <a:ln/>
        </p:spPr>
        <p:txBody>
          <a:bodyPr wrap="square" lIns="0" tIns="0" rIns="0" bIns="0" rtlCol="0" anchor="ctr"/>
          <a:lstStyle/>
          <a:p>
            <a:pPr indent="0" marL="0">
              <a:buNone/>
            </a:pPr>
            <a:r>
              <a:rPr lang="en-US" sz="1200" dirty="0">
                <a:solidFill>
                  <a:schemeClr val="accent3"/>
                </a:solidFill>
              </a:rPr>
              <a:t>Median difference −0.22 pp, clip-level 95% CI [−1.21, +1.16]. Upright on 1,234 of 1,234 frames.</a:t>
            </a:r>
            <a:endParaRPr lang="en-US" sz="1200" dirty="0"/>
          </a:p>
        </p:txBody>
      </p:sp>
      <p:sp>
        <p:nvSpPr>
          <p:cNvPr id="12" name="Text 9"/>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100" i="1" dirty="0">
                <a:solidFill>
                  <a:schemeClr val="accent3"/>
                </a:solidFill>
              </a:rPr>
              <a:t>Source: scripts/evaluate_round_trip.py → data/round_trip_eval/round_trip_report.json. Same WLASL pool; other datasets untested.</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Body error is mostly systematic, not jitter</a:t>
            </a:r>
            <a:endParaRPr lang="en-US" sz="3600" dirty="0"/>
          </a:p>
        </p:txBody>
      </p:sp>
      <p:graphicFrame>
        <p:nvGraphicFramePr>
          <p:cNvPr id="3" name="Chart 0" descr=""/>
          <p:cNvGraphicFramePr/>
          <p:nvPr/>
        </p:nvGraphicFramePr>
        <p:xfrm>
          <a:off x="548640" y="132588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dot-1"/>
          <p:cNvSpPr/>
          <p:nvPr/>
        </p:nvSpPr>
        <p:spPr>
          <a:xfrm>
            <a:off x="6995160" y="1435608"/>
            <a:ext cx="384048" cy="384048"/>
          </a:xfrm>
          <a:prstGeom prst="ellipse">
            <a:avLst/>
          </a:prstGeom>
          <a:solidFill>
            <a:schemeClr val="accent1"/>
          </a:solidFill>
          <a:ln/>
        </p:spPr>
      </p:sp>
      <p:sp>
        <p:nvSpPr>
          <p:cNvPr id="5" name="Text 2"/>
          <p:cNvSpPr txBox="1"/>
          <p:nvPr/>
        </p:nvSpPr>
        <p:spPr>
          <a:xfrm>
            <a:off x="6995160" y="14356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7543800" y="1417320"/>
            <a:ext cx="4114800" cy="411480"/>
          </a:xfrm>
          <a:prstGeom prst="rect">
            <a:avLst/>
          </a:prstGeom>
          <a:noFill/>
          <a:ln/>
        </p:spPr>
        <p:txBody>
          <a:bodyPr wrap="square" lIns="0" tIns="0" rIns="0" bIns="0" rtlCol="0" anchor="ctr"/>
          <a:lstStyle/>
          <a:p>
            <a:pPr indent="0" marL="0">
              <a:buNone/>
            </a:pPr>
            <a:r>
              <a:rPr lang="en-US" sz="1700" b="1" dirty="0">
                <a:solidFill>
                  <a:schemeClr val="tx2"/>
                </a:solidFill>
              </a:rPr>
              <a:t>It depends on pose</a:t>
            </a:r>
            <a:endParaRPr lang="en-US" sz="1700" dirty="0"/>
          </a:p>
        </p:txBody>
      </p:sp>
      <p:sp>
        <p:nvSpPr>
          <p:cNvPr id="7" name="Text 4"/>
          <p:cNvSpPr txBox="1"/>
          <p:nvPr/>
        </p:nvSpPr>
        <p:spPr>
          <a:xfrm>
            <a:off x="7543800" y="1847088"/>
            <a:ext cx="4114800" cy="960120"/>
          </a:xfrm>
          <a:prstGeom prst="rect">
            <a:avLst/>
          </a:prstGeom>
          <a:noFill/>
          <a:ln/>
        </p:spPr>
        <p:txBody>
          <a:bodyPr wrap="square" lIns="0" tIns="0" rIns="0" bIns="0" rtlCol="0" anchor="t"/>
          <a:lstStyle/>
          <a:p>
            <a:pPr indent="0" marL="0">
              <a:buNone/>
            </a:pPr>
            <a:r>
              <a:rPr lang="en-US" sz="1400" dirty="0">
                <a:solidFill>
                  <a:schemeClr val="tx1"/>
                </a:solidFill>
              </a:rPr>
              <a:t>On 63229 the arm error is 1–2% with the arm down and 9–10% with the hand at the chin. MediaPipe's arm proportions do not fit SMPL-X.</a:t>
            </a:r>
            <a:endParaRPr lang="en-US" sz="1400" dirty="0"/>
          </a:p>
        </p:txBody>
      </p:sp>
      <p:sp>
        <p:nvSpPr>
          <p:cNvPr id="8" name="dot-2"/>
          <p:cNvSpPr/>
          <p:nvPr/>
        </p:nvSpPr>
        <p:spPr>
          <a:xfrm>
            <a:off x="6995160" y="2898648"/>
            <a:ext cx="384048" cy="384048"/>
          </a:xfrm>
          <a:prstGeom prst="ellipse">
            <a:avLst/>
          </a:prstGeom>
          <a:solidFill>
            <a:schemeClr val="accent1"/>
          </a:solidFill>
          <a:ln/>
        </p:spPr>
      </p:sp>
      <p:sp>
        <p:nvSpPr>
          <p:cNvPr id="9" name="Text 6"/>
          <p:cNvSpPr txBox="1"/>
          <p:nvPr/>
        </p:nvSpPr>
        <p:spPr>
          <a:xfrm>
            <a:off x="6995160" y="28986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7"/>
          <p:cNvSpPr txBox="1"/>
          <p:nvPr/>
        </p:nvSpPr>
        <p:spPr>
          <a:xfrm>
            <a:off x="7543800" y="2880360"/>
            <a:ext cx="4114800" cy="411480"/>
          </a:xfrm>
          <a:prstGeom prst="rect">
            <a:avLst/>
          </a:prstGeom>
          <a:noFill/>
          <a:ln/>
        </p:spPr>
        <p:txBody>
          <a:bodyPr wrap="square" lIns="0" tIns="0" rIns="0" bIns="0" rtlCol="0" anchor="ctr"/>
          <a:lstStyle/>
          <a:p>
            <a:pPr indent="0" marL="0">
              <a:buNone/>
            </a:pPr>
            <a:r>
              <a:rPr lang="en-US" sz="1700" b="1" dirty="0">
                <a:solidFill>
                  <a:schemeClr val="tx2"/>
                </a:solidFill>
              </a:rPr>
              <a:t>Hands are limited by the detector</a:t>
            </a:r>
            <a:endParaRPr lang="en-US" sz="1700" dirty="0"/>
          </a:p>
        </p:txBody>
      </p:sp>
      <p:sp>
        <p:nvSpPr>
          <p:cNvPr id="11" name="Text 8"/>
          <p:cNvSpPr txBox="1"/>
          <p:nvPr/>
        </p:nvSpPr>
        <p:spPr>
          <a:xfrm>
            <a:off x="7543800" y="3310128"/>
            <a:ext cx="4114800" cy="960120"/>
          </a:xfrm>
          <a:prstGeom prst="rect">
            <a:avLst/>
          </a:prstGeom>
          <a:noFill/>
          <a:ln/>
        </p:spPr>
        <p:txBody>
          <a:bodyPr wrap="square" lIns="0" tIns="0" rIns="0" bIns="0" rtlCol="0" anchor="t"/>
          <a:lstStyle/>
          <a:p>
            <a:pPr indent="0" marL="0">
              <a:buNone/>
            </a:pPr>
            <a:r>
              <a:rPr lang="en-US" sz="1400" dirty="0">
                <a:solidFill>
                  <a:schemeClr val="tx1"/>
                </a:solidFill>
              </a:rPr>
              <a:t>Only 14–59% of hand error is constant; the rest is frame-to-frame detector change.</a:t>
            </a:r>
            <a:endParaRPr lang="en-US" sz="1400" dirty="0"/>
          </a:p>
        </p:txBody>
      </p:sp>
      <p:sp>
        <p:nvSpPr>
          <p:cNvPr id="12" name="dot-3"/>
          <p:cNvSpPr/>
          <p:nvPr/>
        </p:nvSpPr>
        <p:spPr>
          <a:xfrm>
            <a:off x="6995160" y="4361688"/>
            <a:ext cx="384048" cy="384048"/>
          </a:xfrm>
          <a:prstGeom prst="ellipse">
            <a:avLst/>
          </a:prstGeom>
          <a:solidFill>
            <a:schemeClr val="accent1"/>
          </a:solidFill>
          <a:ln/>
        </p:spPr>
      </p:sp>
      <p:sp>
        <p:nvSpPr>
          <p:cNvPr id="13" name="Text 10"/>
          <p:cNvSpPr txBox="1"/>
          <p:nvPr/>
        </p:nvSpPr>
        <p:spPr>
          <a:xfrm>
            <a:off x="6995160" y="43616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Text 11"/>
          <p:cNvSpPr txBox="1"/>
          <p:nvPr/>
        </p:nvSpPr>
        <p:spPr>
          <a:xfrm>
            <a:off x="7543800" y="4343400"/>
            <a:ext cx="4114800" cy="411480"/>
          </a:xfrm>
          <a:prstGeom prst="rect">
            <a:avLst/>
          </a:prstGeom>
          <a:noFill/>
          <a:ln/>
        </p:spPr>
        <p:txBody>
          <a:bodyPr wrap="square" lIns="0" tIns="0" rIns="0" bIns="0" rtlCol="0" anchor="ctr"/>
          <a:lstStyle/>
          <a:p>
            <a:pPr indent="0" marL="0">
              <a:buNone/>
            </a:pPr>
            <a:r>
              <a:rPr lang="en-US" sz="1700" b="1" dirty="0">
                <a:solidFill>
                  <a:schemeClr val="tx2"/>
                </a:solidFill>
              </a:rPr>
              <a:t>The conversion adds almost no jitter</a:t>
            </a:r>
            <a:endParaRPr lang="en-US" sz="1700" dirty="0"/>
          </a:p>
        </p:txBody>
      </p:sp>
      <p:sp>
        <p:nvSpPr>
          <p:cNvPr id="15" name="Text 12"/>
          <p:cNvSpPr txBox="1"/>
          <p:nvPr/>
        </p:nvSpPr>
        <p:spPr>
          <a:xfrm>
            <a:off x="7543800" y="4773168"/>
            <a:ext cx="4114800" cy="960120"/>
          </a:xfrm>
          <a:prstGeom prst="rect">
            <a:avLst/>
          </a:prstGeom>
          <a:noFill/>
          <a:ln/>
        </p:spPr>
        <p:txBody>
          <a:bodyPr wrap="square" lIns="0" tIns="0" rIns="0" bIns="0" rtlCol="0" anchor="t"/>
          <a:lstStyle/>
          <a:p>
            <a:pPr indent="0" marL="0">
              <a:buNone/>
            </a:pPr>
            <a:r>
              <a:rPr lang="en-US" sz="1400" dirty="0">
                <a:solidFill>
                  <a:schemeClr val="tx1"/>
                </a:solidFill>
              </a:rPr>
              <a:t>0.00–0.25 pp over MediaPipe's own. Glitches in the output are the detector's.</a:t>
            </a:r>
            <a:endParaRPr lang="en-US" sz="1400" dirty="0"/>
          </a:p>
        </p:txBody>
      </p:sp>
      <p:sp>
        <p:nvSpPr>
          <p:cNvPr id="16" name="Text 13"/>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100" i="1" dirty="0">
                <a:solidFill>
                  <a:schemeClr val="accent3"/>
                </a:solidFill>
              </a:rPr>
              <a:t>Preliminary scratch analysis (data/round_trip_eval/week2_experiments/decomp.py). A clip that holds one pose reads as "constant".</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Smoothing parameters cuts jitter, keeps bones</a:t>
            </a:r>
            <a:endParaRPr lang="en-US" sz="3600" dirty="0"/>
          </a:p>
        </p:txBody>
      </p:sp>
      <p:graphicFrame>
        <p:nvGraphicFramePr>
          <p:cNvPr id="3" name="Chart 0" descr=""/>
          <p:cNvGraphicFramePr/>
          <p:nvPr/>
        </p:nvGraphicFramePr>
        <p:xfrm>
          <a:off x="548640" y="132588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43800" y="1371600"/>
            <a:ext cx="4023360" cy="685800"/>
          </a:xfrm>
          <a:prstGeom prst="rect">
            <a:avLst/>
          </a:prstGeom>
          <a:noFill/>
          <a:ln/>
        </p:spPr>
        <p:txBody>
          <a:bodyPr wrap="square" lIns="0" tIns="0" rIns="0" bIns="0" rtlCol="0" anchor="b"/>
          <a:lstStyle/>
          <a:p>
            <a:pPr indent="0" marL="0">
              <a:buNone/>
            </a:pPr>
            <a:r>
              <a:rPr lang="en-US" sz="4000" b="1" dirty="0">
                <a:solidFill>
                  <a:schemeClr val="accent1"/>
                </a:solidFill>
              </a:rPr>
              <a:t>3.6–5.6×</a:t>
            </a:r>
            <a:endParaRPr lang="en-US" sz="4000" dirty="0"/>
          </a:p>
        </p:txBody>
      </p:sp>
      <p:sp>
        <p:nvSpPr>
          <p:cNvPr id="5" name="Text 2"/>
          <p:cNvSpPr txBox="1"/>
          <p:nvPr/>
        </p:nvSpPr>
        <p:spPr>
          <a:xfrm>
            <a:off x="7543800" y="2103120"/>
            <a:ext cx="4023360" cy="685800"/>
          </a:xfrm>
          <a:prstGeom prst="rect">
            <a:avLst/>
          </a:prstGeom>
          <a:noFill/>
          <a:ln/>
        </p:spPr>
        <p:txBody>
          <a:bodyPr wrap="square" lIns="0" tIns="0" rIns="0" bIns="0" rtlCol="0" anchor="t"/>
          <a:lstStyle/>
          <a:p>
            <a:pPr indent="0" marL="0">
              <a:buNone/>
            </a:pPr>
            <a:r>
              <a:rPr lang="en-US" sz="1300" dirty="0">
                <a:solidFill>
                  <a:schemeClr val="tx1"/>
                </a:solidFill>
              </a:rPr>
              <a:t>less right-hand jitter than the raw round trip, on all five clips</a:t>
            </a:r>
            <a:endParaRPr lang="en-US" sz="1300" dirty="0"/>
          </a:p>
        </p:txBody>
      </p:sp>
      <p:sp>
        <p:nvSpPr>
          <p:cNvPr id="6" name="Text 3"/>
          <p:cNvSpPr txBox="1"/>
          <p:nvPr/>
        </p:nvSpPr>
        <p:spPr>
          <a:xfrm>
            <a:off x="7543800" y="2743200"/>
            <a:ext cx="4023360" cy="685800"/>
          </a:xfrm>
          <a:prstGeom prst="rect">
            <a:avLst/>
          </a:prstGeom>
          <a:noFill/>
          <a:ln/>
        </p:spPr>
        <p:txBody>
          <a:bodyPr wrap="square" lIns="0" tIns="0" rIns="0" bIns="0" rtlCol="0" anchor="b"/>
          <a:lstStyle/>
          <a:p>
            <a:pPr indent="0" marL="0">
              <a:buNone/>
            </a:pPr>
            <a:r>
              <a:rPr lang="en-US" sz="4000" b="1" dirty="0">
                <a:solidFill>
                  <a:schemeClr val="accent2"/>
                </a:solidFill>
              </a:rPr>
              <a:t>0.4–1.4%</a:t>
            </a:r>
            <a:endParaRPr lang="en-US" sz="4000" dirty="0"/>
          </a:p>
        </p:txBody>
      </p:sp>
      <p:sp>
        <p:nvSpPr>
          <p:cNvPr id="7" name="Text 4"/>
          <p:cNvSpPr txBox="1"/>
          <p:nvPr/>
        </p:nvSpPr>
        <p:spPr>
          <a:xfrm>
            <a:off x="7543800" y="3474720"/>
            <a:ext cx="4023360" cy="685800"/>
          </a:xfrm>
          <a:prstGeom prst="rect">
            <a:avLst/>
          </a:prstGeom>
          <a:noFill/>
          <a:ln/>
        </p:spPr>
        <p:txBody>
          <a:bodyPr wrap="square" lIns="0" tIns="0" rIns="0" bIns="0" rtlCol="0" anchor="t"/>
          <a:lstStyle/>
          <a:p>
            <a:pPr indent="0" marL="0">
              <a:buNone/>
            </a:pPr>
            <a:r>
              <a:rPr lang="en-US" sz="1300" dirty="0">
                <a:solidFill>
                  <a:schemeClr val="tx1"/>
                </a:solidFill>
              </a:rPr>
              <a:t>bone-length variation when smoothing parameters, against 2.7–12.3% when smoothing output points</a:t>
            </a:r>
            <a:endParaRPr lang="en-US" sz="1300" dirty="0"/>
          </a:p>
        </p:txBody>
      </p:sp>
      <p:sp>
        <p:nvSpPr>
          <p:cNvPr id="8" name="Text 5"/>
          <p:cNvSpPr txBox="1"/>
          <p:nvPr/>
        </p:nvSpPr>
        <p:spPr>
          <a:xfrm>
            <a:off x="7543800" y="4251960"/>
            <a:ext cx="4023360" cy="1371600"/>
          </a:xfrm>
          <a:prstGeom prst="rect">
            <a:avLst/>
          </a:prstGeom>
          <a:noFill/>
          <a:ln/>
        </p:spPr>
        <p:txBody>
          <a:bodyPr wrap="square" lIns="0" tIns="0" rIns="0" bIns="0" rtlCol="0" anchor="t"/>
          <a:lstStyle/>
          <a:p>
            <a:pPr indent="0" marL="0">
              <a:buNone/>
            </a:pPr>
            <a:r>
              <a:rPr lang="en-US" sz="1400" b="1" dirty="0">
                <a:solidFill>
                  <a:schemeClr val="accent4"/>
                </a:solidFill>
              </a:rPr>
              <a:t>Cost: </a:t>
            </a:r>
            <a:pPr indent="0" marL="0">
              <a:buNone/>
            </a:pPr>
            <a:r>
              <a:rPr lang="en-US" sz="1400" dirty="0">
                <a:solidFill>
                  <a:schemeClr val="tx1"/>
                </a:solidFill>
              </a:rPr>
              <a:t>peak wrist speed falls 35–56%. Smoothing must be judged on jitter removed and motion kept, not on round-trip error, which rises by design.</a:t>
            </a:r>
            <a:endParaRPr lang="en-US" sz="1400" dirty="0"/>
          </a:p>
        </p:txBody>
      </p:sp>
      <p:sp>
        <p:nvSpPr>
          <p:cNvPr id="9" name="Text 6"/>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100" i="1" dirty="0">
                <a:solidFill>
                  <a:schemeClr val="accent3"/>
                </a:solidFill>
              </a:rPr>
              <a:t>Exploratory: week2_experiments/smooth_exp.py and smooth_results.txt; comparison videos for 01988, 28111, 69257.</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640080"/>
          </a:xfrm>
          <a:prstGeom prst="rect">
            <a:avLst/>
          </a:prstGeom>
          <a:noFill/>
          <a:ln/>
        </p:spPr>
        <p:txBody>
          <a:bodyPr wrap="square" lIns="0" tIns="0" rIns="0" bIns="0" rtlCol="0" anchor="b"/>
          <a:lstStyle/>
          <a:p>
            <a:pPr indent="0" marL="0">
              <a:buNone/>
            </a:pPr>
            <a:r>
              <a:rPr lang="en-US" sz="2000" b="1" dirty="0">
                <a:solidFill>
                  <a:schemeClr val="accent1"/>
                </a:solidFill>
              </a:rPr>
              <a:t>Part 2</a:t>
            </a:r>
            <a:endParaRPr lang="en-US" sz="2000" dirty="0"/>
          </a:p>
        </p:txBody>
      </p:sp>
      <p:sp>
        <p:nvSpPr>
          <p:cNvPr id="3" name="Text 0"/>
          <p:cNvSpPr/>
          <p:nvPr>
            <p:ph idx="101" type="title" hasCustomPrompt="1"/>
          </p:nvPr>
        </p:nvSpPr>
        <p:spPr>
          <a:xfrm>
            <a:off x="731520" y="25603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Meaning-preserving augmentation</a:t>
            </a:r>
            <a:endParaRPr lang="en-US" sz="4400" dirty="0"/>
          </a:p>
        </p:txBody>
      </p:sp>
      <p:sp>
        <p:nvSpPr>
          <p:cNvPr id="4" name="Text 0"/>
          <p:cNvSpPr/>
          <p:nvPr>
            <p:ph idx="102" type="body" hasCustomPrompt="1"/>
          </p:nvPr>
        </p:nvSpPr>
        <p:spPr>
          <a:xfrm>
            <a:off x="731520" y="384048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Which changes to a signer's 3-D skeleton keep an isolated sign's meaning, and how strong can they be?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What can vary without changing the sign</a:t>
            </a:r>
            <a:endParaRPr lang="en-US" sz="3600" dirty="0"/>
          </a:p>
        </p:txBody>
      </p:sp>
      <p:sp>
        <p:nvSpPr>
          <p:cNvPr id="3" name="ling-col-1"/>
          <p:cNvSpPr/>
          <p:nvPr/>
        </p:nvSpPr>
        <p:spPr>
          <a:xfrm>
            <a:off x="548640" y="1371600"/>
            <a:ext cx="5364328" cy="3886200"/>
          </a:xfrm>
          <a:prstGeom prst="rect">
            <a:avLst/>
          </a:prstGeom>
          <a:solidFill>
            <a:schemeClr val="bg2"/>
          </a:solidFill>
          <a:ln/>
        </p:spPr>
      </p:sp>
      <p:sp>
        <p:nvSpPr>
          <p:cNvPr id="4" name="Text 2"/>
          <p:cNvSpPr txBox="1"/>
          <p:nvPr/>
        </p:nvSpPr>
        <p:spPr>
          <a:xfrm>
            <a:off x="868680" y="1554480"/>
            <a:ext cx="4724248" cy="457200"/>
          </a:xfrm>
          <a:prstGeom prst="rect">
            <a:avLst/>
          </a:prstGeom>
          <a:noFill/>
          <a:ln/>
        </p:spPr>
        <p:txBody>
          <a:bodyPr wrap="square" lIns="0" tIns="0" rIns="0" bIns="0" rtlCol="0" anchor="ctr"/>
          <a:lstStyle/>
          <a:p>
            <a:pPr indent="0" marL="0">
              <a:buNone/>
            </a:pPr>
            <a:r>
              <a:rPr lang="en-US" sz="2000" b="1" dirty="0">
                <a:solidFill>
                  <a:schemeClr val="accent4"/>
                </a:solidFill>
              </a:rPr>
              <a:t>Contrastive: must be kept</a:t>
            </a:r>
            <a:endParaRPr lang="en-US" sz="2000" dirty="0"/>
          </a:p>
        </p:txBody>
      </p:sp>
      <p:sp>
        <p:nvSpPr>
          <p:cNvPr id="5" name="Text 3"/>
          <p:cNvSpPr txBox="1"/>
          <p:nvPr/>
        </p:nvSpPr>
        <p:spPr>
          <a:xfrm>
            <a:off x="868680" y="2148840"/>
            <a:ext cx="4724248" cy="29718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Handshape: perceived categorically (CAR / WHICH)</a:t>
            </a:r>
            <a:endParaRPr lang="en-US" sz="1600" dirty="0"/>
          </a:p>
          <a:p>
            <a:pPr marL="203200" indent="-203200">
              <a:spcAft>
                <a:spcPts val="1400"/>
              </a:spcAft>
              <a:buSzPct val="100000"/>
              <a:buChar char="•"/>
            </a:pPr>
            <a:r>
              <a:rPr lang="en-US" sz="1600" dirty="0">
                <a:solidFill>
                  <a:schemeClr val="tx1"/>
                </a:solidFill>
              </a:rPr>
              <a:t>Location: MOTHER (chin) vs FATHER (forehead)</a:t>
            </a:r>
            <a:endParaRPr lang="en-US" sz="1600" dirty="0"/>
          </a:p>
          <a:p>
            <a:pPr marL="203200" indent="-203200">
              <a:spcAft>
                <a:spcPts val="1400"/>
              </a:spcAft>
              <a:buSzPct val="100000"/>
              <a:buChar char="•"/>
            </a:pPr>
            <a:r>
              <a:rPr lang="en-US" sz="1600" dirty="0">
                <a:solidFill>
                  <a:schemeClr val="tx1"/>
                </a:solidFill>
              </a:rPr>
              <a:t>Movement and palm orientation</a:t>
            </a:r>
            <a:endParaRPr lang="en-US" sz="1600" dirty="0"/>
          </a:p>
          <a:p>
            <a:pPr marL="203200" indent="-203200">
              <a:spcAft>
                <a:spcPts val="1400"/>
              </a:spcAft>
              <a:buSzPct val="100000"/>
              <a:buChar char="•"/>
            </a:pPr>
            <a:r>
              <a:rPr lang="en-US" sz="1600" dirty="0">
                <a:solidFill>
                  <a:schemeClr val="tx1"/>
                </a:solidFill>
              </a:rPr>
              <a:t>Timing as morphology: repetitions, holds, end deceleration</a:t>
            </a:r>
            <a:endParaRPr lang="en-US" sz="1600" dirty="0"/>
          </a:p>
          <a:p>
            <a:pPr marL="203200" indent="-203200">
              <a:spcAft>
                <a:spcPts val="1400"/>
              </a:spcAft>
              <a:buSzPct val="100000"/>
              <a:buChar char="•"/>
            </a:pPr>
            <a:r>
              <a:rPr lang="en-US" sz="1600" dirty="0">
                <a:solidFill>
                  <a:schemeClr val="tx1"/>
                </a:solidFill>
              </a:rPr>
              <a:t>Lexical mouth and face: NOT-YET needs the TH mouth</a:t>
            </a:r>
            <a:endParaRPr lang="en-US" sz="1600" dirty="0"/>
          </a:p>
        </p:txBody>
      </p:sp>
      <p:sp>
        <p:nvSpPr>
          <p:cNvPr id="6" name="ling-col-2"/>
          <p:cNvSpPr/>
          <p:nvPr/>
        </p:nvSpPr>
        <p:spPr>
          <a:xfrm>
            <a:off x="6278728" y="1371600"/>
            <a:ext cx="5364328" cy="3886200"/>
          </a:xfrm>
          <a:prstGeom prst="rect">
            <a:avLst/>
          </a:prstGeom>
          <a:solidFill>
            <a:schemeClr val="bg2"/>
          </a:solidFill>
          <a:ln/>
        </p:spPr>
      </p:sp>
      <p:sp>
        <p:nvSpPr>
          <p:cNvPr id="7" name="Text 5"/>
          <p:cNvSpPr txBox="1"/>
          <p:nvPr/>
        </p:nvSpPr>
        <p:spPr>
          <a:xfrm>
            <a:off x="6598768" y="1554480"/>
            <a:ext cx="4724248" cy="457200"/>
          </a:xfrm>
          <a:prstGeom prst="rect">
            <a:avLst/>
          </a:prstGeom>
          <a:noFill/>
          <a:ln/>
        </p:spPr>
        <p:txBody>
          <a:bodyPr wrap="square" lIns="0" tIns="0" rIns="0" bIns="0" rtlCol="0" anchor="ctr"/>
          <a:lstStyle/>
          <a:p>
            <a:pPr indent="0" marL="0">
              <a:buNone/>
            </a:pPr>
            <a:r>
              <a:rPr lang="en-US" sz="2000" b="1" dirty="0">
                <a:solidFill>
                  <a:schemeClr val="accent2"/>
                </a:solidFill>
              </a:rPr>
              <a:t>Free to vary: within limits</a:t>
            </a:r>
            <a:endParaRPr lang="en-US" sz="2000" dirty="0"/>
          </a:p>
        </p:txBody>
      </p:sp>
      <p:sp>
        <p:nvSpPr>
          <p:cNvPr id="8" name="Text 6"/>
          <p:cNvSpPr txBox="1"/>
          <p:nvPr/>
        </p:nvSpPr>
        <p:spPr>
          <a:xfrm>
            <a:off x="6598768" y="2148840"/>
            <a:ext cx="4724248" cy="29718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Left vs right hand: not lexically contrastive in ASL</a:t>
            </a:r>
            <a:endParaRPr lang="en-US" sz="1600" dirty="0"/>
          </a:p>
          <a:p>
            <a:pPr marL="203200" indent="-203200">
              <a:spcAft>
                <a:spcPts val="1400"/>
              </a:spcAft>
              <a:buSzPct val="100000"/>
              <a:buChar char="•"/>
            </a:pPr>
            <a:r>
              <a:rPr lang="en-US" sz="1600" dirty="0">
                <a:solidFill>
                  <a:schemeClr val="tx1"/>
                </a:solidFill>
              </a:rPr>
              <a:t>Location shifts forward, back and sideways; forehead signs lowered</a:t>
            </a:r>
            <a:endParaRPr lang="en-US" sz="1600" dirty="0"/>
          </a:p>
          <a:p>
            <a:pPr marL="203200" indent="-203200">
              <a:spcAft>
                <a:spcPts val="1400"/>
              </a:spcAft>
              <a:buSzPct val="100000"/>
              <a:buChar char="•"/>
            </a:pPr>
            <a:r>
              <a:rPr lang="en-US" sz="1600" dirty="0">
                <a:solidFill>
                  <a:schemeClr val="tx1"/>
                </a:solidFill>
              </a:rPr>
              <a:t>Signing rate: realised as sign duration</a:t>
            </a:r>
            <a:endParaRPr lang="en-US" sz="1600" dirty="0"/>
          </a:p>
          <a:p>
            <a:pPr marL="203200" indent="-203200">
              <a:spcAft>
                <a:spcPts val="1400"/>
              </a:spcAft>
              <a:buSzPct val="100000"/>
              <a:buChar char="•"/>
            </a:pPr>
            <a:r>
              <a:rPr lang="en-US" sz="1600" dirty="0">
                <a:solidFill>
                  <a:schemeClr val="tx1"/>
                </a:solidFill>
              </a:rPr>
              <a:t>Movement size: whispered ↔ shouted</a:t>
            </a:r>
            <a:endParaRPr lang="en-US" sz="1600" dirty="0"/>
          </a:p>
          <a:p>
            <a:pPr marL="203200" indent="-203200">
              <a:spcAft>
                <a:spcPts val="1400"/>
              </a:spcAft>
              <a:buSzPct val="100000"/>
              <a:buChar char="•"/>
            </a:pPr>
            <a:r>
              <a:rPr lang="en-US" sz="1600" dirty="0">
                <a:solidFill>
                  <a:schemeClr val="tx1"/>
                </a:solidFill>
              </a:rPr>
              <a:t>Dropping the weak hand, only for some two-handed signs</a:t>
            </a:r>
            <a:endParaRPr lang="en-US" sz="1600" dirty="0"/>
          </a:p>
        </p:txBody>
      </p:sp>
      <p:sp>
        <p:nvSpPr>
          <p:cNvPr id="9" name="Text 7"/>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500" b="1" dirty="0">
                <a:solidFill>
                  <a:schemeClr val="tx2"/>
                </a:solidFill>
              </a:rPr>
              <a:t>No source gives tolerances in millimetres or degrees. </a:t>
            </a:r>
            <a:pPr indent="0" marL="0">
              <a:buNone/>
            </a:pPr>
            <a:r>
              <a:rPr lang="en-US" sz="1500" dirty="0">
                <a:solidFill>
                  <a:schemeClr val="tx2"/>
                </a:solidFill>
              </a:rPr>
              <a:t>Bounds have to be set empirically and checked per clip.</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What sign-recognition studies measured</a:t>
            </a:r>
            <a:endParaRPr lang="en-US" sz="3600" dirty="0"/>
          </a:p>
        </p:txBody>
      </p:sp>
      <p:sp>
        <p:nvSpPr>
          <p:cNvPr id="3" name="Text 1"/>
          <p:cNvSpPr txBox="1"/>
          <p:nvPr/>
        </p:nvSpPr>
        <p:spPr>
          <a:xfrm>
            <a:off x="548640" y="1188720"/>
            <a:ext cx="11094415" cy="548640"/>
          </a:xfrm>
          <a:prstGeom prst="rect">
            <a:avLst/>
          </a:prstGeom>
          <a:noFill/>
          <a:ln/>
        </p:spPr>
        <p:txBody>
          <a:bodyPr wrap="square" lIns="0" tIns="0" rIns="0" bIns="0" rtlCol="0" anchor="t"/>
          <a:lstStyle/>
          <a:p>
            <a:pPr indent="0" marL="0">
              <a:buNone/>
            </a:pPr>
            <a:r>
              <a:rPr lang="en-US" sz="1400" b="1" dirty="0">
                <a:solidFill>
                  <a:schemeClr val="tx2"/>
                </a:solidFill>
              </a:rPr>
              <a:t>How to read this: </a:t>
            </a:r>
            <a:pPr indent="0" marL="0">
              <a:buNone/>
            </a:pPr>
            <a:r>
              <a:rPr lang="en-US" sz="1400" dirty="0">
                <a:solidFill>
                  <a:schemeClr val="tx1"/>
                </a:solidFill>
              </a:rPr>
              <a:t>a study trains a model to recognise signs, switches one change on or off, and compares how often the model names the right sign. "Points" is the gap between the two accuracy percentages.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5486400"/>
                <a:gridCol w="2862072"/>
              </a:tblGrid>
              <a:tr h="457200">
                <a:tc>
                  <a:txBody>
                    <a:bodyPr/>
                    <a:lstStyle/>
                    <a:p>
                      <a:pPr indent="0" marL="0">
                        <a:buNone/>
                      </a:pPr>
                      <a:r>
                        <a:rPr lang="en-US" sz="1400" b="1" dirty="0">
                          <a:solidFill>
                            <a:schemeClr val="bg1"/>
                          </a:solidFill>
                        </a:rPr>
                        <a:t>Change</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happened to accuracy</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Paper</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Play the sign faster or slower</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Dropped 15.65 points when turned off (81.47% → 65.82%, WLASL100), the biggest effect found</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Laines et al., CVPR Workshops 2023</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Turn the 3-D body up to 20°</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Rose 1.46 points on WLASL (46.20% → 47.66%) and 1.29 on MSASL when added</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Spoken2Sign (Zuo et al., ECCV 2024)</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Rotate the picture up to 13°</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Rose 2.27 points when added (58.97% → 61.24%, WLASL100)</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SPOTER (Boháček &amp; Hrúz, WACV Workshops 2022)</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Nudge each arm joint up to 4°</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Rose 2.27 points when added (58.97% → 61.24%, WLASL100)</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SPOTER (Boháček &amp; Hrúz, 2022)</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Mirror left and right</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Dropped only 0.69 points when turned off (81.47% → 80.78%); no study found it hurts</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Laines et al., 2023</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Resize the whole skeleton</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Dropped only 0.22 points when turned off (81.47% → 81.25%)</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Laines et al., 2023</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Erase one direction (x, y or z)</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rPr>
                        <a:t>Fell to 3.9% from 38.1% with no change, in general action recognition</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AS-CAL (Rao et al., 2021)</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Cut off part of the clip</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4"/>
                          </a:solidFill>
                        </a:rPr>
                        <a:t>Not tested: the authors refused it, since cutting a two-part sign can leave just one part</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ASL Citizen (Desai et al., 2023)</a:t>
                      </a:r>
                      <a:endParaRPr lang="en-US" sz="1400" dirty="0"/>
                    </a:p>
                  </a:txBody>
                  <a:tcPr marL="91440" marR="91440" marT="27432" marB="27432"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Which changes are safe to make</a:t>
            </a:r>
            <a:endParaRPr lang="en-US" sz="3600" dirty="0"/>
          </a:p>
        </p:txBody>
      </p:sp>
      <p:sp>
        <p:nvSpPr>
          <p:cNvPr id="3" name="tier-1"/>
          <p:cNvSpPr/>
          <p:nvPr/>
        </p:nvSpPr>
        <p:spPr>
          <a:xfrm>
            <a:off x="548640" y="1371600"/>
            <a:ext cx="3515258" cy="4709160"/>
          </a:xfrm>
          <a:prstGeom prst="rect">
            <a:avLst/>
          </a:prstGeom>
          <a:solidFill>
            <a:schemeClr val="bg2"/>
          </a:solidFill>
          <a:ln/>
        </p:spPr>
      </p:sp>
      <p:sp>
        <p:nvSpPr>
          <p:cNvPr id="4" name="tier-dot-1"/>
          <p:cNvSpPr/>
          <p:nvPr/>
        </p:nvSpPr>
        <p:spPr>
          <a:xfrm>
            <a:off x="822960" y="1591056"/>
            <a:ext cx="256032" cy="256032"/>
          </a:xfrm>
          <a:prstGeom prst="ellipse">
            <a:avLst/>
          </a:prstGeom>
          <a:solidFill>
            <a:schemeClr val="accent2"/>
          </a:solidFill>
          <a:ln/>
        </p:spPr>
      </p:sp>
      <p:sp>
        <p:nvSpPr>
          <p:cNvPr id="5" name="Text 3"/>
          <p:cNvSpPr txBox="1"/>
          <p:nvPr/>
        </p:nvSpPr>
        <p:spPr>
          <a:xfrm>
            <a:off x="1188720" y="1481328"/>
            <a:ext cx="2646578" cy="457200"/>
          </a:xfrm>
          <a:prstGeom prst="rect">
            <a:avLst/>
          </a:prstGeom>
          <a:noFill/>
          <a:ln/>
        </p:spPr>
        <p:txBody>
          <a:bodyPr wrap="square" lIns="0" tIns="0" rIns="0" bIns="0" rtlCol="0" anchor="ctr"/>
          <a:lstStyle/>
          <a:p>
            <a:pPr indent="0" marL="0">
              <a:buNone/>
            </a:pPr>
            <a:r>
              <a:rPr lang="en-US" sz="1800" b="1" dirty="0">
                <a:solidFill>
                  <a:schemeClr val="tx2"/>
                </a:solidFill>
              </a:rPr>
              <a:t>Safe for every sign</a:t>
            </a:r>
            <a:endParaRPr lang="en-US" sz="1800" dirty="0"/>
          </a:p>
        </p:txBody>
      </p:sp>
      <p:sp>
        <p:nvSpPr>
          <p:cNvPr id="6" name="Text 4"/>
          <p:cNvSpPr txBox="1"/>
          <p:nvPr/>
        </p:nvSpPr>
        <p:spPr>
          <a:xfrm>
            <a:off x="822960"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Turn the camera left or right, up to 20°</a:t>
            </a:r>
            <a:endParaRPr lang="en-US" sz="1400" dirty="0"/>
          </a:p>
          <a:p>
            <a:pPr marL="203200" indent="-203200">
              <a:spcAft>
                <a:spcPts val="800"/>
              </a:spcAft>
              <a:buSzPct val="100000"/>
              <a:buChar char="•"/>
            </a:pPr>
            <a:r>
              <a:rPr lang="en-US" sz="1400" dirty="0">
                <a:solidFill>
                  <a:schemeClr val="tx1"/>
                </a:solidFill>
              </a:rPr>
              <a:t>Flip it like a mirror, so the other hand signs</a:t>
            </a:r>
            <a:endParaRPr lang="en-US" sz="1400" dirty="0"/>
          </a:p>
          <a:p>
            <a:pPr marL="203200" indent="-203200">
              <a:spcAft>
                <a:spcPts val="800"/>
              </a:spcAft>
              <a:buSzPct val="100000"/>
              <a:buChar char="•"/>
            </a:pPr>
            <a:r>
              <a:rPr lang="en-US" sz="1400" dirty="0">
                <a:solidFill>
                  <a:schemeClr val="tx1"/>
                </a:solidFill>
              </a:rPr>
              <a:t>Play the whole sign a bit faster or slower</a:t>
            </a:r>
            <a:endParaRPr lang="en-US" sz="1400" dirty="0"/>
          </a:p>
          <a:p>
            <a:pPr marL="203200" indent="-203200">
              <a:spcAft>
                <a:spcPts val="800"/>
              </a:spcAft>
              <a:buSzPct val="100000"/>
              <a:buChar char="•"/>
            </a:pPr>
            <a:r>
              <a:rPr lang="en-US" sz="1400" dirty="0">
                <a:solidFill>
                  <a:schemeClr val="tx1"/>
                </a:solidFill>
              </a:rPr>
              <a:t>Nudge the shoulder, elbow and wrist a tiny bit (4°)</a:t>
            </a:r>
            <a:endParaRPr lang="en-US" sz="1400" dirty="0"/>
          </a:p>
          <a:p>
            <a:pPr marL="203200" indent="-203200">
              <a:spcAft>
                <a:spcPts val="800"/>
              </a:spcAft>
              <a:buSzPct val="100000"/>
              <a:buChar char="•"/>
            </a:pPr>
            <a:r>
              <a:rPr lang="en-US" sz="1400" dirty="0">
                <a:solidFill>
                  <a:schemeClr val="tx1"/>
                </a:solidFill>
              </a:rPr>
              <a:t>Make the person look a bit nearer or farther away</a:t>
            </a:r>
            <a:endParaRPr lang="en-US" sz="1400" dirty="0"/>
          </a:p>
          <a:p>
            <a:pPr marL="203200" indent="-203200">
              <a:spcAft>
                <a:spcPts val="800"/>
              </a:spcAft>
              <a:buSzPct val="100000"/>
              <a:buChar char="•"/>
            </a:pPr>
            <a:r>
              <a:rPr lang="en-US" sz="1400" dirty="0">
                <a:solidFill>
                  <a:schemeClr val="tx1"/>
                </a:solidFill>
              </a:rPr>
              <a:t>Move the person a little within the picture</a:t>
            </a:r>
            <a:endParaRPr lang="en-US" sz="1400" dirty="0"/>
          </a:p>
        </p:txBody>
      </p:sp>
      <p:sp>
        <p:nvSpPr>
          <p:cNvPr id="7" name="tier-2"/>
          <p:cNvSpPr/>
          <p:nvPr/>
        </p:nvSpPr>
        <p:spPr>
          <a:xfrm>
            <a:off x="4338218" y="1371600"/>
            <a:ext cx="3515258" cy="4709160"/>
          </a:xfrm>
          <a:prstGeom prst="rect">
            <a:avLst/>
          </a:prstGeom>
          <a:solidFill>
            <a:schemeClr val="bg2"/>
          </a:solidFill>
          <a:ln/>
        </p:spPr>
      </p:sp>
      <p:sp>
        <p:nvSpPr>
          <p:cNvPr id="8" name="tier-dot-2"/>
          <p:cNvSpPr/>
          <p:nvPr/>
        </p:nvSpPr>
        <p:spPr>
          <a:xfrm>
            <a:off x="4612538" y="1591056"/>
            <a:ext cx="256032" cy="256032"/>
          </a:xfrm>
          <a:prstGeom prst="ellipse">
            <a:avLst/>
          </a:prstGeom>
          <a:solidFill>
            <a:schemeClr val="accent1"/>
          </a:solidFill>
          <a:ln/>
        </p:spPr>
      </p:sp>
      <p:sp>
        <p:nvSpPr>
          <p:cNvPr id="9" name="Text 7"/>
          <p:cNvSpPr txBox="1"/>
          <p:nvPr/>
        </p:nvSpPr>
        <p:spPr>
          <a:xfrm>
            <a:off x="4978298" y="1481328"/>
            <a:ext cx="2646578" cy="457200"/>
          </a:xfrm>
          <a:prstGeom prst="rect">
            <a:avLst/>
          </a:prstGeom>
          <a:noFill/>
          <a:ln/>
        </p:spPr>
        <p:txBody>
          <a:bodyPr wrap="square" lIns="0" tIns="0" rIns="0" bIns="0" rtlCol="0" anchor="ctr"/>
          <a:lstStyle/>
          <a:p>
            <a:pPr indent="0" marL="0">
              <a:buNone/>
            </a:pPr>
            <a:r>
              <a:rPr lang="en-US" sz="1800" b="1" dirty="0">
                <a:solidFill>
                  <a:schemeClr val="tx2"/>
                </a:solidFill>
              </a:rPr>
              <a:t>Safe only for some signs</a:t>
            </a:r>
            <a:endParaRPr lang="en-US" sz="1800" dirty="0"/>
          </a:p>
        </p:txBody>
      </p:sp>
      <p:sp>
        <p:nvSpPr>
          <p:cNvPr id="10" name="Text 8"/>
          <p:cNvSpPr txBox="1"/>
          <p:nvPr/>
        </p:nvSpPr>
        <p:spPr>
          <a:xfrm>
            <a:off x="4612538"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Make the hand's path bigger or smaller, like shouting or whispering</a:t>
            </a:r>
            <a:endParaRPr lang="en-US" sz="1400" dirty="0"/>
          </a:p>
          <a:p>
            <a:pPr marL="203200" indent="-203200">
              <a:spcAft>
                <a:spcPts val="800"/>
              </a:spcAft>
              <a:buSzPct val="100000"/>
              <a:buChar char="•"/>
            </a:pPr>
            <a:r>
              <a:rPr lang="en-US" sz="1400" dirty="0">
                <a:solidFill>
                  <a:schemeClr val="tx1"/>
                </a:solidFill>
              </a:rPr>
              <a:t>Move where the sign happens, only in directions that keep its meaning</a:t>
            </a:r>
            <a:endParaRPr lang="en-US" sz="1400" dirty="0"/>
          </a:p>
          <a:p>
            <a:pPr marL="203200" indent="-203200">
              <a:spcAft>
                <a:spcPts val="800"/>
              </a:spcAft>
              <a:buSzPct val="100000"/>
              <a:buChar char="•"/>
            </a:pPr>
            <a:r>
              <a:rPr lang="en-US" sz="1400" dirty="0">
                <a:solidFill>
                  <a:schemeClr val="tx1"/>
                </a:solidFill>
              </a:rPr>
              <a:t>Bend the fingers slightly, keeping the same handshape</a:t>
            </a:r>
            <a:endParaRPr lang="en-US" sz="1400" dirty="0"/>
          </a:p>
          <a:p>
            <a:pPr marL="203200" indent="-203200">
              <a:spcAft>
                <a:spcPts val="800"/>
              </a:spcAft>
              <a:buSzPct val="100000"/>
              <a:buChar char="•"/>
            </a:pPr>
            <a:r>
              <a:rPr lang="en-US" sz="1400" dirty="0">
                <a:solidFill>
                  <a:schemeClr val="tx1"/>
                </a:solidFill>
              </a:rPr>
              <a:t>Change the body's build, then re-aim the arms so the hands land in the same spot</a:t>
            </a:r>
            <a:endParaRPr lang="en-US" sz="1400" dirty="0"/>
          </a:p>
          <a:p>
            <a:pPr marL="203200" indent="-203200">
              <a:spcAft>
                <a:spcPts val="800"/>
              </a:spcAft>
              <a:buSzPct val="100000"/>
              <a:buChar char="•"/>
            </a:pPr>
            <a:r>
              <a:rPr lang="en-US" sz="1400" dirty="0">
                <a:solidFill>
                  <a:schemeClr val="tx1"/>
                </a:solidFill>
              </a:rPr>
              <a:t>Leave out the second hand, only in two-handed signs that allow it</a:t>
            </a:r>
            <a:endParaRPr lang="en-US" sz="1400" dirty="0"/>
          </a:p>
          <a:p>
            <a:pPr marL="203200" indent="-203200">
              <a:spcAft>
                <a:spcPts val="800"/>
              </a:spcAft>
              <a:buSzPct val="100000"/>
              <a:buChar char="•"/>
            </a:pPr>
            <a:r>
              <a:rPr lang="en-US" sz="1400" dirty="0">
                <a:solidFill>
                  <a:schemeClr val="tx1"/>
                </a:solidFill>
              </a:rPr>
              <a:t>Hide a few points or frames, as if the tracker lost them</a:t>
            </a:r>
            <a:endParaRPr lang="en-US" sz="1400" dirty="0"/>
          </a:p>
        </p:txBody>
      </p:sp>
      <p:sp>
        <p:nvSpPr>
          <p:cNvPr id="11" name="tier-3"/>
          <p:cNvSpPr/>
          <p:nvPr/>
        </p:nvSpPr>
        <p:spPr>
          <a:xfrm>
            <a:off x="8127797" y="1371600"/>
            <a:ext cx="3515258" cy="4709160"/>
          </a:xfrm>
          <a:prstGeom prst="rect">
            <a:avLst/>
          </a:prstGeom>
          <a:solidFill>
            <a:schemeClr val="bg2"/>
          </a:solidFill>
          <a:ln/>
        </p:spPr>
      </p:sp>
      <p:sp>
        <p:nvSpPr>
          <p:cNvPr id="12" name="tier-dot-3"/>
          <p:cNvSpPr/>
          <p:nvPr/>
        </p:nvSpPr>
        <p:spPr>
          <a:xfrm>
            <a:off x="8402117" y="1591056"/>
            <a:ext cx="256032" cy="256032"/>
          </a:xfrm>
          <a:prstGeom prst="ellipse">
            <a:avLst/>
          </a:prstGeom>
          <a:solidFill>
            <a:schemeClr val="accent4"/>
          </a:solidFill>
          <a:ln/>
        </p:spPr>
      </p:sp>
      <p:sp>
        <p:nvSpPr>
          <p:cNvPr id="13" name="Text 11"/>
          <p:cNvSpPr txBox="1"/>
          <p:nvPr/>
        </p:nvSpPr>
        <p:spPr>
          <a:xfrm>
            <a:off x="8767877" y="1481328"/>
            <a:ext cx="2646578" cy="457200"/>
          </a:xfrm>
          <a:prstGeom prst="rect">
            <a:avLst/>
          </a:prstGeom>
          <a:noFill/>
          <a:ln/>
        </p:spPr>
        <p:txBody>
          <a:bodyPr wrap="square" lIns="0" tIns="0" rIns="0" bIns="0" rtlCol="0" anchor="ctr"/>
          <a:lstStyle/>
          <a:p>
            <a:pPr indent="0" marL="0">
              <a:buNone/>
            </a:pPr>
            <a:r>
              <a:rPr lang="en-US" sz="1800" b="1" dirty="0">
                <a:solidFill>
                  <a:schemeClr val="tx2"/>
                </a:solidFill>
              </a:rPr>
              <a:t>Never safe</a:t>
            </a:r>
            <a:endParaRPr lang="en-US" sz="1800" dirty="0"/>
          </a:p>
        </p:txBody>
      </p:sp>
      <p:sp>
        <p:nvSpPr>
          <p:cNvPr id="14" name="Text 12"/>
          <p:cNvSpPr txBox="1"/>
          <p:nvPr/>
        </p:nvSpPr>
        <p:spPr>
          <a:xfrm>
            <a:off x="8402117" y="2103120"/>
            <a:ext cx="3012338" cy="3840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Move the hand to a different place: chin to forehead turns MOTHER into FATHER</a:t>
            </a:r>
            <a:endParaRPr lang="en-US" sz="1400" dirty="0"/>
          </a:p>
          <a:p>
            <a:pPr marL="203200" indent="-203200">
              <a:spcAft>
                <a:spcPts val="800"/>
              </a:spcAft>
              <a:buSzPct val="100000"/>
              <a:buChar char="•"/>
            </a:pPr>
            <a:r>
              <a:rPr lang="en-US" sz="1400" dirty="0">
                <a:solidFill>
                  <a:schemeClr val="tx1"/>
                </a:solidFill>
              </a:rPr>
              <a:t>Change the handshape, palm direction or path shape</a:t>
            </a:r>
            <a:endParaRPr lang="en-US" sz="1400" dirty="0"/>
          </a:p>
          <a:p>
            <a:pPr marL="203200" indent="-203200">
              <a:spcAft>
                <a:spcPts val="800"/>
              </a:spcAft>
              <a:buSzPct val="100000"/>
              <a:buChar char="•"/>
            </a:pPr>
            <a:r>
              <a:rPr lang="en-US" sz="1400" dirty="0">
                <a:solidFill>
                  <a:schemeClr val="tx1"/>
                </a:solidFill>
              </a:rPr>
              <a:t>Speed up only part of a sign, or add repeats or pauses</a:t>
            </a:r>
            <a:endParaRPr lang="en-US" sz="1400" dirty="0"/>
          </a:p>
          <a:p>
            <a:pPr marL="203200" indent="-203200">
              <a:spcAft>
                <a:spcPts val="800"/>
              </a:spcAft>
              <a:buSzPct val="100000"/>
              <a:buChar char="•"/>
            </a:pPr>
            <a:r>
              <a:rPr lang="en-US" sz="1400" dirty="0">
                <a:solidFill>
                  <a:schemeClr val="tx1"/>
                </a:solidFill>
              </a:rPr>
              <a:t>Play it backwards or cut part of it off</a:t>
            </a:r>
            <a:endParaRPr lang="en-US" sz="1400" dirty="0"/>
          </a:p>
          <a:p>
            <a:pPr marL="203200" indent="-203200">
              <a:spcAft>
                <a:spcPts val="800"/>
              </a:spcAft>
              <a:buSzPct val="100000"/>
              <a:buChar char="•"/>
            </a:pPr>
            <a:r>
              <a:rPr lang="en-US" sz="1400" dirty="0">
                <a:solidFill>
                  <a:schemeClr val="tx1"/>
                </a:solidFill>
              </a:rPr>
              <a:t>Mirror just one hand</a:t>
            </a:r>
            <a:endParaRPr lang="en-US" sz="1400" dirty="0"/>
          </a:p>
          <a:p>
            <a:pPr marL="203200" indent="-203200">
              <a:spcAft>
                <a:spcPts val="800"/>
              </a:spcAft>
              <a:buSzPct val="100000"/>
              <a:buChar char="•"/>
            </a:pPr>
            <a:r>
              <a:rPr lang="en-US" sz="1400" dirty="0">
                <a:solidFill>
                  <a:schemeClr val="tx1"/>
                </a:solidFill>
              </a:rPr>
              <a:t>Change a mouth shape that is part of the word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First trial: view, mirror and scale behave exactly</a:t>
            </a:r>
            <a:endParaRPr lang="en-US" sz="3600" dirty="0"/>
          </a:p>
        </p:txBody>
      </p:sp>
      <p:pic>
        <p:nvPicPr>
          <p:cNvPr id="3" name="Image 0" descr="Clip 17083: source video, round trip, yaw +25°, mirror and scale ×0.85 figures">    </p:cNvPr>
          <p:cNvPicPr>
            <a:picLocks noChangeAspect="1"/>
          </p:cNvPicPr>
          <p:nvPr/>
        </p:nvPicPr>
        <p:blipFill>
          <a:blip r:embed="rId1"/>
          <a:stretch>
            <a:fillRect/>
          </a:stretch>
        </p:blipFill>
        <p:spPr>
          <a:xfrm>
            <a:off x="548640" y="1234440"/>
            <a:ext cx="11094415" cy="2334450"/>
          </a:xfrm>
          <a:prstGeom prst="rect">
            <a:avLst/>
          </a:prstGeom>
        </p:spPr>
      </p:pic>
      <p:sp>
        <p:nvSpPr>
          <p:cNvPr id="4" name="Text 1"/>
          <p:cNvSpPr txBox="1"/>
          <p:nvPr/>
        </p:nvSpPr>
        <p:spPr>
          <a:xfrm>
            <a:off x="659584" y="3678618"/>
            <a:ext cx="2107939" cy="292608"/>
          </a:xfrm>
          <a:prstGeom prst="rect">
            <a:avLst/>
          </a:prstGeom>
          <a:noFill/>
          <a:ln/>
        </p:spPr>
        <p:txBody>
          <a:bodyPr wrap="square" lIns="0" tIns="0" rIns="0" bIns="0" rtlCol="0" anchor="ctr"/>
          <a:lstStyle/>
          <a:p>
            <a:pPr indent="0" marL="0">
              <a:buNone/>
            </a:pPr>
            <a:r>
              <a:rPr lang="en-US" sz="1400" b="1" dirty="0">
                <a:solidFill>
                  <a:schemeClr val="accent3"/>
                </a:solidFill>
              </a:rPr>
              <a:t>Source video</a:t>
            </a:r>
            <a:endParaRPr lang="en-US" sz="1400" dirty="0"/>
          </a:p>
        </p:txBody>
      </p:sp>
      <p:sp>
        <p:nvSpPr>
          <p:cNvPr id="5" name="Text 2"/>
          <p:cNvSpPr txBox="1"/>
          <p:nvPr/>
        </p:nvSpPr>
        <p:spPr>
          <a:xfrm>
            <a:off x="659584" y="3989514"/>
            <a:ext cx="2107939" cy="1051560"/>
          </a:xfrm>
          <a:prstGeom prst="rect">
            <a:avLst/>
          </a:prstGeom>
          <a:noFill/>
          <a:ln/>
        </p:spPr>
        <p:txBody>
          <a:bodyPr wrap="square" lIns="0" tIns="0" rIns="0" bIns="0" rtlCol="0" anchor="t"/>
          <a:lstStyle/>
          <a:p>
            <a:pPr indent="0" marL="0">
              <a:buNone/>
            </a:pPr>
            <a:r>
              <a:rPr lang="en-US" sz="1400" dirty="0">
                <a:solidFill>
                  <a:schemeClr val="tx1"/>
                </a:solidFill>
              </a:rPr>
              <a:t>Clip 17083 with the points MediaPipe tracked.</a:t>
            </a:r>
            <a:endParaRPr lang="en-US" sz="1400" dirty="0"/>
          </a:p>
        </p:txBody>
      </p:sp>
      <p:sp>
        <p:nvSpPr>
          <p:cNvPr id="6" name="Text 3"/>
          <p:cNvSpPr txBox="1"/>
          <p:nvPr/>
        </p:nvSpPr>
        <p:spPr>
          <a:xfrm>
            <a:off x="2861826" y="3678618"/>
            <a:ext cx="2091297" cy="292608"/>
          </a:xfrm>
          <a:prstGeom prst="rect">
            <a:avLst/>
          </a:prstGeom>
          <a:noFill/>
          <a:ln/>
        </p:spPr>
        <p:txBody>
          <a:bodyPr wrap="square" lIns="0" tIns="0" rIns="0" bIns="0" rtlCol="0" anchor="ctr"/>
          <a:lstStyle/>
          <a:p>
            <a:pPr indent="0" marL="0">
              <a:buNone/>
            </a:pPr>
            <a:r>
              <a:rPr lang="en-US" sz="1400" b="1" dirty="0">
                <a:solidFill>
                  <a:schemeClr val="accent3"/>
                </a:solidFill>
              </a:rPr>
              <a:t>Round trip (no change)</a:t>
            </a:r>
            <a:endParaRPr lang="en-US" sz="1400" dirty="0"/>
          </a:p>
        </p:txBody>
      </p:sp>
      <p:sp>
        <p:nvSpPr>
          <p:cNvPr id="7" name="Text 4"/>
          <p:cNvSpPr txBox="1"/>
          <p:nvPr/>
        </p:nvSpPr>
        <p:spPr>
          <a:xfrm>
            <a:off x="2861826" y="3989514"/>
            <a:ext cx="2091297" cy="1051560"/>
          </a:xfrm>
          <a:prstGeom prst="rect">
            <a:avLst/>
          </a:prstGeom>
          <a:noFill/>
          <a:ln/>
        </p:spPr>
        <p:txBody>
          <a:bodyPr wrap="square" lIns="0" tIns="0" rIns="0" bIns="0" rtlCol="0" anchor="t"/>
          <a:lstStyle/>
          <a:p>
            <a:pPr indent="0" marL="0">
              <a:buNone/>
            </a:pPr>
            <a:r>
              <a:rPr lang="en-US" sz="1400" dirty="0">
                <a:solidFill>
                  <a:schemeClr val="tx1"/>
                </a:solidFill>
              </a:rPr>
              <a:t>Points turned into a 3-D SMPL-X body and back. Every other panel starts here.</a:t>
            </a:r>
            <a:endParaRPr lang="en-US" sz="1400" dirty="0"/>
          </a:p>
        </p:txBody>
      </p:sp>
      <p:sp>
        <p:nvSpPr>
          <p:cNvPr id="8" name="Text 5"/>
          <p:cNvSpPr txBox="1"/>
          <p:nvPr/>
        </p:nvSpPr>
        <p:spPr>
          <a:xfrm>
            <a:off x="5052973" y="3678618"/>
            <a:ext cx="2091297" cy="292608"/>
          </a:xfrm>
          <a:prstGeom prst="rect">
            <a:avLst/>
          </a:prstGeom>
          <a:noFill/>
          <a:ln/>
        </p:spPr>
        <p:txBody>
          <a:bodyPr wrap="square" lIns="0" tIns="0" rIns="0" bIns="0" rtlCol="0" anchor="ctr"/>
          <a:lstStyle/>
          <a:p>
            <a:pPr indent="0" marL="0">
              <a:buNone/>
            </a:pPr>
            <a:r>
              <a:rPr lang="en-US" sz="1400" b="1" dirty="0">
                <a:solidFill>
                  <a:schemeClr val="tx2"/>
                </a:solidFill>
              </a:rPr>
              <a:t>Yaw +25°</a:t>
            </a:r>
            <a:endParaRPr lang="en-US" sz="1400" dirty="0"/>
          </a:p>
        </p:txBody>
      </p:sp>
      <p:sp>
        <p:nvSpPr>
          <p:cNvPr id="9" name="Text 6"/>
          <p:cNvSpPr txBox="1"/>
          <p:nvPr/>
        </p:nvSpPr>
        <p:spPr>
          <a:xfrm>
            <a:off x="5052973" y="3989514"/>
            <a:ext cx="2091297" cy="1051560"/>
          </a:xfrm>
          <a:prstGeom prst="rect">
            <a:avLst/>
          </a:prstGeom>
          <a:noFill/>
          <a:ln/>
        </p:spPr>
        <p:txBody>
          <a:bodyPr wrap="square" lIns="0" tIns="0" rIns="0" bIns="0" rtlCol="0" anchor="t"/>
          <a:lstStyle/>
          <a:p>
            <a:pPr indent="0" marL="0">
              <a:buNone/>
            </a:pPr>
            <a:r>
              <a:rPr lang="en-US" sz="1400" dirty="0">
                <a:solidFill>
                  <a:schemeClr val="tx1"/>
                </a:solidFill>
              </a:rPr>
              <a:t>The whole figure turned 25° about a vertical line through the shoulder centre.</a:t>
            </a:r>
            <a:endParaRPr lang="en-US" sz="1400" dirty="0"/>
          </a:p>
        </p:txBody>
      </p:sp>
      <p:sp>
        <p:nvSpPr>
          <p:cNvPr id="10" name="Text 7"/>
          <p:cNvSpPr txBox="1"/>
          <p:nvPr/>
        </p:nvSpPr>
        <p:spPr>
          <a:xfrm>
            <a:off x="7244120" y="3678618"/>
            <a:ext cx="2091297" cy="292608"/>
          </a:xfrm>
          <a:prstGeom prst="rect">
            <a:avLst/>
          </a:prstGeom>
          <a:noFill/>
          <a:ln/>
        </p:spPr>
        <p:txBody>
          <a:bodyPr wrap="square" lIns="0" tIns="0" rIns="0" bIns="0" rtlCol="0" anchor="ctr"/>
          <a:lstStyle/>
          <a:p>
            <a:pPr indent="0" marL="0">
              <a:buNone/>
            </a:pPr>
            <a:r>
              <a:rPr lang="en-US" sz="1400" b="1" dirty="0">
                <a:solidFill>
                  <a:schemeClr val="tx2"/>
                </a:solidFill>
              </a:rPr>
              <a:t>Mirror, sides swapped</a:t>
            </a:r>
            <a:endParaRPr lang="en-US" sz="1400" dirty="0"/>
          </a:p>
        </p:txBody>
      </p:sp>
      <p:sp>
        <p:nvSpPr>
          <p:cNvPr id="11" name="Text 8"/>
          <p:cNvSpPr txBox="1"/>
          <p:nvPr/>
        </p:nvSpPr>
        <p:spPr>
          <a:xfrm>
            <a:off x="7244120" y="3989514"/>
            <a:ext cx="2091297" cy="1051560"/>
          </a:xfrm>
          <a:prstGeom prst="rect">
            <a:avLst/>
          </a:prstGeom>
          <a:noFill/>
          <a:ln/>
        </p:spPr>
        <p:txBody>
          <a:bodyPr wrap="square" lIns="0" tIns="0" rIns="0" bIns="0" rtlCol="0" anchor="t"/>
          <a:lstStyle/>
          <a:p>
            <a:pPr indent="0" marL="0">
              <a:buNone/>
            </a:pPr>
            <a:r>
              <a:rPr lang="en-US" sz="1400" dirty="0">
                <a:solidFill>
                  <a:schemeClr val="tx1"/>
                </a:solidFill>
              </a:rPr>
              <a:t>Left and right flipped across the shoulder centre and the hands swapped: a left-handed signer.</a:t>
            </a:r>
            <a:endParaRPr lang="en-US" sz="1400" dirty="0"/>
          </a:p>
        </p:txBody>
      </p:sp>
      <p:sp>
        <p:nvSpPr>
          <p:cNvPr id="12" name="Text 9"/>
          <p:cNvSpPr txBox="1"/>
          <p:nvPr/>
        </p:nvSpPr>
        <p:spPr>
          <a:xfrm>
            <a:off x="9435267" y="3678618"/>
            <a:ext cx="2091297" cy="292608"/>
          </a:xfrm>
          <a:prstGeom prst="rect">
            <a:avLst/>
          </a:prstGeom>
          <a:noFill/>
          <a:ln/>
        </p:spPr>
        <p:txBody>
          <a:bodyPr wrap="square" lIns="0" tIns="0" rIns="0" bIns="0" rtlCol="0" anchor="ctr"/>
          <a:lstStyle/>
          <a:p>
            <a:pPr indent="0" marL="0">
              <a:buNone/>
            </a:pPr>
            <a:r>
              <a:rPr lang="en-US" sz="1400" b="1" dirty="0">
                <a:solidFill>
                  <a:schemeClr val="tx2"/>
                </a:solidFill>
              </a:rPr>
              <a:t>Scale ×0.85</a:t>
            </a:r>
            <a:endParaRPr lang="en-US" sz="1400" dirty="0"/>
          </a:p>
        </p:txBody>
      </p:sp>
      <p:sp>
        <p:nvSpPr>
          <p:cNvPr id="13" name="Text 10"/>
          <p:cNvSpPr txBox="1"/>
          <p:nvPr/>
        </p:nvSpPr>
        <p:spPr>
          <a:xfrm>
            <a:off x="9435267" y="3989514"/>
            <a:ext cx="2091297" cy="1051560"/>
          </a:xfrm>
          <a:prstGeom prst="rect">
            <a:avLst/>
          </a:prstGeom>
          <a:noFill/>
          <a:ln/>
        </p:spPr>
        <p:txBody>
          <a:bodyPr wrap="square" lIns="0" tIns="0" rIns="0" bIns="0" rtlCol="0" anchor="t"/>
          <a:lstStyle/>
          <a:p>
            <a:pPr indent="0" marL="0">
              <a:buNone/>
            </a:pPr>
            <a:r>
              <a:rPr lang="en-US" sz="1400" dirty="0">
                <a:solidFill>
                  <a:schemeClr val="tx1"/>
                </a:solidFill>
              </a:rPr>
              <a:t>Everything shrunk 15% about the shoulder centre, as if the camera stepped back.</a:t>
            </a:r>
            <a:endParaRPr lang="en-US" sz="1400" dirty="0"/>
          </a:p>
        </p:txBody>
      </p:sp>
      <p:sp>
        <p:nvSpPr>
          <p:cNvPr id="14" name="trial-stat-1"/>
          <p:cNvSpPr/>
          <p:nvPr/>
        </p:nvSpPr>
        <p:spPr>
          <a:xfrm>
            <a:off x="548640" y="5029200"/>
            <a:ext cx="3515258" cy="914400"/>
          </a:xfrm>
          <a:prstGeom prst="rect">
            <a:avLst/>
          </a:prstGeom>
          <a:solidFill>
            <a:schemeClr val="bg2"/>
          </a:solidFill>
          <a:ln/>
        </p:spPr>
      </p:sp>
      <p:sp>
        <p:nvSpPr>
          <p:cNvPr id="15" name="Text 12"/>
          <p:cNvSpPr txBox="1"/>
          <p:nvPr/>
        </p:nvSpPr>
        <p:spPr>
          <a:xfrm>
            <a:off x="777240" y="5093208"/>
            <a:ext cx="1828800" cy="786384"/>
          </a:xfrm>
          <a:prstGeom prst="rect">
            <a:avLst/>
          </a:prstGeom>
          <a:noFill/>
          <a:ln/>
        </p:spPr>
        <p:txBody>
          <a:bodyPr wrap="square" lIns="0" tIns="0" rIns="0" bIns="0" rtlCol="0" anchor="ctr"/>
          <a:lstStyle/>
          <a:p>
            <a:pPr indent="0" marL="0">
              <a:buNone/>
            </a:pPr>
            <a:r>
              <a:rPr lang="en-US" sz="2400" b="1" dirty="0">
                <a:solidFill>
                  <a:schemeClr val="accent2"/>
                </a:solidFill>
              </a:rPr>
              <a:t>≤ 3×10⁻⁸ m</a:t>
            </a:r>
            <a:endParaRPr lang="en-US" sz="2400" dirty="0"/>
          </a:p>
        </p:txBody>
      </p:sp>
      <p:sp>
        <p:nvSpPr>
          <p:cNvPr id="16" name="Text 13"/>
          <p:cNvSpPr txBox="1"/>
          <p:nvPr/>
        </p:nvSpPr>
        <p:spPr>
          <a:xfrm>
            <a:off x="2651760" y="5093208"/>
            <a:ext cx="1229258" cy="786384"/>
          </a:xfrm>
          <a:prstGeom prst="rect">
            <a:avLst/>
          </a:prstGeom>
          <a:noFill/>
          <a:ln/>
        </p:spPr>
        <p:txBody>
          <a:bodyPr wrap="square" lIns="0" tIns="0" rIns="0" bIns="0" rtlCol="0" anchor="ctr"/>
          <a:lstStyle/>
          <a:p>
            <a:pPr indent="0" marL="0">
              <a:buNone/>
            </a:pPr>
            <a:r>
              <a:rPr lang="en-US" sz="1300" dirty="0">
                <a:solidFill>
                  <a:schemeClr val="tx1"/>
                </a:solidFill>
              </a:rPr>
              <a:t>change at zero strength: each edit is exact</a:t>
            </a:r>
            <a:endParaRPr lang="en-US" sz="1300" dirty="0"/>
          </a:p>
        </p:txBody>
      </p:sp>
      <p:sp>
        <p:nvSpPr>
          <p:cNvPr id="17" name="trial-stat-2"/>
          <p:cNvSpPr/>
          <p:nvPr/>
        </p:nvSpPr>
        <p:spPr>
          <a:xfrm>
            <a:off x="4338218" y="5029200"/>
            <a:ext cx="3515258" cy="914400"/>
          </a:xfrm>
          <a:prstGeom prst="rect">
            <a:avLst/>
          </a:prstGeom>
          <a:solidFill>
            <a:schemeClr val="bg2"/>
          </a:solidFill>
          <a:ln/>
        </p:spPr>
      </p:sp>
      <p:sp>
        <p:nvSpPr>
          <p:cNvPr id="18" name="Text 15"/>
          <p:cNvSpPr txBox="1"/>
          <p:nvPr/>
        </p:nvSpPr>
        <p:spPr>
          <a:xfrm>
            <a:off x="4566818" y="5093208"/>
            <a:ext cx="1828800" cy="786384"/>
          </a:xfrm>
          <a:prstGeom prst="rect">
            <a:avLst/>
          </a:prstGeom>
          <a:noFill/>
          <a:ln/>
        </p:spPr>
        <p:txBody>
          <a:bodyPr wrap="square" lIns="0" tIns="0" rIns="0" bIns="0" rtlCol="0" anchor="ctr"/>
          <a:lstStyle/>
          <a:p>
            <a:pPr indent="0" marL="0">
              <a:buNone/>
            </a:pPr>
            <a:r>
              <a:rPr lang="en-US" sz="2400" b="1" dirty="0">
                <a:solidFill>
                  <a:schemeClr val="accent2"/>
                </a:solidFill>
              </a:rPr>
              <a:t>−15.00%</a:t>
            </a:r>
            <a:endParaRPr lang="en-US" sz="2400" dirty="0"/>
          </a:p>
        </p:txBody>
      </p:sp>
      <p:sp>
        <p:nvSpPr>
          <p:cNvPr id="19" name="Text 16"/>
          <p:cNvSpPr txBox="1"/>
          <p:nvPr/>
        </p:nvSpPr>
        <p:spPr>
          <a:xfrm>
            <a:off x="6441338" y="5093208"/>
            <a:ext cx="1229258" cy="786384"/>
          </a:xfrm>
          <a:prstGeom prst="rect">
            <a:avLst/>
          </a:prstGeom>
          <a:noFill/>
          <a:ln/>
        </p:spPr>
        <p:txBody>
          <a:bodyPr wrap="square" lIns="0" tIns="0" rIns="0" bIns="0" rtlCol="0" anchor="ctr"/>
          <a:lstStyle/>
          <a:p>
            <a:pPr indent="0" marL="0">
              <a:buNone/>
            </a:pPr>
            <a:r>
              <a:rPr lang="en-US" sz="1300" dirty="0">
                <a:solidFill>
                  <a:schemeClr val="tx1"/>
                </a:solidFill>
              </a:rPr>
              <a:t>every bone at ×0.85; normalised pose unchanged</a:t>
            </a:r>
            <a:endParaRPr lang="en-US" sz="1300" dirty="0"/>
          </a:p>
        </p:txBody>
      </p:sp>
      <p:sp>
        <p:nvSpPr>
          <p:cNvPr id="20" name="trial-stat-3"/>
          <p:cNvSpPr/>
          <p:nvPr/>
        </p:nvSpPr>
        <p:spPr>
          <a:xfrm>
            <a:off x="8127797" y="5029200"/>
            <a:ext cx="3515258" cy="914400"/>
          </a:xfrm>
          <a:prstGeom prst="rect">
            <a:avLst/>
          </a:prstGeom>
          <a:solidFill>
            <a:schemeClr val="bg2"/>
          </a:solidFill>
          <a:ln/>
        </p:spPr>
      </p:sp>
      <p:sp>
        <p:nvSpPr>
          <p:cNvPr id="21" name="Text 18"/>
          <p:cNvSpPr txBox="1"/>
          <p:nvPr/>
        </p:nvSpPr>
        <p:spPr>
          <a:xfrm>
            <a:off x="8356397" y="5093208"/>
            <a:ext cx="1828800" cy="786384"/>
          </a:xfrm>
          <a:prstGeom prst="rect">
            <a:avLst/>
          </a:prstGeom>
          <a:noFill/>
          <a:ln/>
        </p:spPr>
        <p:txBody>
          <a:bodyPr wrap="square" lIns="0" tIns="0" rIns="0" bIns="0" rtlCol="0" anchor="ctr"/>
          <a:lstStyle/>
          <a:p>
            <a:pPr indent="0" marL="0">
              <a:buNone/>
            </a:pPr>
            <a:r>
              <a:rPr lang="en-US" sz="2400" b="1" dirty="0">
                <a:solidFill>
                  <a:schemeClr val="accent2"/>
                </a:solidFill>
              </a:rPr>
              <a:t>25° → 20°</a:t>
            </a:r>
            <a:endParaRPr lang="en-US" sz="2400" dirty="0"/>
          </a:p>
        </p:txBody>
      </p:sp>
      <p:sp>
        <p:nvSpPr>
          <p:cNvPr id="22" name="Text 19"/>
          <p:cNvSpPr txBox="1"/>
          <p:nvPr/>
        </p:nvSpPr>
        <p:spPr>
          <a:xfrm>
            <a:off x="10230917" y="5093208"/>
            <a:ext cx="1229258" cy="786384"/>
          </a:xfrm>
          <a:prstGeom prst="rect">
            <a:avLst/>
          </a:prstGeom>
          <a:noFill/>
          <a:ln/>
        </p:spPr>
        <p:txBody>
          <a:bodyPr wrap="square" lIns="0" tIns="0" rIns="0" bIns="0" rtlCol="0" anchor="ctr"/>
          <a:lstStyle/>
          <a:p>
            <a:pPr indent="0" marL="0">
              <a:buNone/>
            </a:pPr>
            <a:r>
              <a:rPr lang="en-US" sz="1300" dirty="0">
                <a:solidFill>
                  <a:schemeClr val="tx1"/>
                </a:solidFill>
              </a:rPr>
              <a:t>keep yaw inside the tested ±20° next time</a:t>
            </a:r>
            <a:endParaRPr lang="en-US" sz="1300" dirty="0"/>
          </a:p>
        </p:txBody>
      </p:sp>
      <p:sp>
        <p:nvSpPr>
          <p:cNvPr id="23" name="Text 20"/>
          <p:cNvSpPr txBox="1"/>
          <p:nvPr/>
        </p:nvSpPr>
        <p:spPr>
          <a:xfrm>
            <a:off x="548640" y="6016752"/>
            <a:ext cx="11094415" cy="320040"/>
          </a:xfrm>
          <a:prstGeom prst="rect">
            <a:avLst/>
          </a:prstGeom>
          <a:noFill/>
          <a:ln/>
        </p:spPr>
        <p:txBody>
          <a:bodyPr wrap="square" lIns="0" tIns="0" rIns="0" bIns="0" rtlCol="0" anchor="ctr"/>
          <a:lstStyle/>
          <a:p>
            <a:pPr indent="0" marL="0">
              <a:buNone/>
            </a:pPr>
            <a:r>
              <a:rPr lang="en-US" sz="1100" i="1" dirty="0">
                <a:solidFill>
                  <a:schemeClr val="accent3"/>
                </a:solidFill>
              </a:rPr>
              <a:t>Green = augmented, blue = original. scripts/augment_trials.py, clips 17083 and 57641; video data/augment_trials/17083_augmentations.mp4.</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First trial: arm, shape and time changes overshoot</a:t>
            </a:r>
            <a:endParaRPr lang="en-US" sz="3600" dirty="0"/>
          </a:p>
        </p:txBody>
      </p:sp>
      <p:pic>
        <p:nvPicPr>
          <p:cNvPr id="3" name="Image 0" descr="Clip 17083: off-centre, elbows +15° shoulders +10°, betas[0] +2 and time warp figures">    </p:cNvPr>
          <p:cNvPicPr>
            <a:picLocks noChangeAspect="1"/>
          </p:cNvPicPr>
          <p:nvPr/>
        </p:nvPicPr>
        <p:blipFill>
          <a:blip r:embed="rId1"/>
          <a:stretch>
            <a:fillRect/>
          </a:stretch>
        </p:blipFill>
        <p:spPr>
          <a:xfrm>
            <a:off x="1681195" y="1234440"/>
            <a:ext cx="8829305" cy="2195770"/>
          </a:xfrm>
          <a:prstGeom prst="rect">
            <a:avLst/>
          </a:prstGeom>
        </p:spPr>
      </p:pic>
      <p:sp>
        <p:nvSpPr>
          <p:cNvPr id="4" name="Text 1"/>
          <p:cNvSpPr txBox="1"/>
          <p:nvPr/>
        </p:nvSpPr>
        <p:spPr>
          <a:xfrm>
            <a:off x="1803039" y="3539938"/>
            <a:ext cx="2085482" cy="292608"/>
          </a:xfrm>
          <a:prstGeom prst="rect">
            <a:avLst/>
          </a:prstGeom>
          <a:noFill/>
          <a:ln/>
        </p:spPr>
        <p:txBody>
          <a:bodyPr wrap="square" lIns="0" tIns="0" rIns="0" bIns="0" rtlCol="0" anchor="ctr"/>
          <a:lstStyle/>
          <a:p>
            <a:pPr indent="0" marL="0">
              <a:buNone/>
            </a:pPr>
            <a:r>
              <a:rPr lang="en-US" sz="1400" b="1" dirty="0">
                <a:solidFill>
                  <a:schemeClr val="tx2"/>
                </a:solidFill>
              </a:rPr>
              <a:t>Off-centre</a:t>
            </a:r>
            <a:endParaRPr lang="en-US" sz="1400" dirty="0"/>
          </a:p>
        </p:txBody>
      </p:sp>
      <p:sp>
        <p:nvSpPr>
          <p:cNvPr id="5" name="Text 2"/>
          <p:cNvSpPr txBox="1"/>
          <p:nvPr/>
        </p:nvSpPr>
        <p:spPr>
          <a:xfrm>
            <a:off x="1803039" y="3850834"/>
            <a:ext cx="2085482" cy="1097280"/>
          </a:xfrm>
          <a:prstGeom prst="rect">
            <a:avLst/>
          </a:prstGeom>
          <a:noFill/>
          <a:ln/>
        </p:spPr>
        <p:txBody>
          <a:bodyPr wrap="square" lIns="0" tIns="0" rIns="0" bIns="0" rtlCol="0" anchor="t"/>
          <a:lstStyle/>
          <a:p>
            <a:pPr indent="0" marL="0">
              <a:buNone/>
            </a:pPr>
            <a:r>
              <a:rPr lang="en-US" sz="1400" dirty="0">
                <a:solidFill>
                  <a:schemeClr val="tx1"/>
                </a:solidFill>
              </a:rPr>
              <a:t>Whole figure slid 0.6 shoulder-widths right and 0.2 down (about 21 cm).</a:t>
            </a:r>
            <a:endParaRPr lang="en-US" sz="1400" dirty="0"/>
          </a:p>
        </p:txBody>
      </p:sp>
      <p:sp>
        <p:nvSpPr>
          <p:cNvPr id="6" name="result-dot-Off-centre"/>
          <p:cNvSpPr/>
          <p:nvPr/>
        </p:nvSpPr>
        <p:spPr>
          <a:xfrm>
            <a:off x="1803039" y="5057842"/>
            <a:ext cx="146304" cy="146304"/>
          </a:xfrm>
          <a:prstGeom prst="ellipse">
            <a:avLst/>
          </a:prstGeom>
          <a:solidFill>
            <a:schemeClr val="accent2"/>
          </a:solidFill>
          <a:ln/>
        </p:spPr>
      </p:sp>
      <p:sp>
        <p:nvSpPr>
          <p:cNvPr id="7" name="Text 4"/>
          <p:cNvSpPr txBox="1"/>
          <p:nvPr/>
        </p:nvSpPr>
        <p:spPr>
          <a:xfrm>
            <a:off x="2031639" y="4984690"/>
            <a:ext cx="1856882" cy="914400"/>
          </a:xfrm>
          <a:prstGeom prst="rect">
            <a:avLst/>
          </a:prstGeom>
          <a:noFill/>
          <a:ln/>
        </p:spPr>
        <p:txBody>
          <a:bodyPr wrap="square" lIns="0" tIns="0" rIns="0" bIns="0" rtlCol="0" anchor="t"/>
          <a:lstStyle/>
          <a:p>
            <a:pPr indent="0" marL="0">
              <a:buNone/>
            </a:pPr>
            <a:r>
              <a:rPr lang="en-US" sz="1300" dirty="0">
                <a:solidFill>
                  <a:schemeClr val="tx1"/>
                </a:solidFill>
              </a:rPr>
              <a:t>Pose unchanged once centred. Needs a check that both hands stay in the frame.</a:t>
            </a:r>
            <a:endParaRPr lang="en-US" sz="1300" dirty="0"/>
          </a:p>
        </p:txBody>
      </p:sp>
      <p:sp>
        <p:nvSpPr>
          <p:cNvPr id="8" name="Text 5"/>
          <p:cNvSpPr txBox="1"/>
          <p:nvPr/>
        </p:nvSpPr>
        <p:spPr>
          <a:xfrm>
            <a:off x="3994473" y="3539938"/>
            <a:ext cx="2090780" cy="292608"/>
          </a:xfrm>
          <a:prstGeom prst="rect">
            <a:avLst/>
          </a:prstGeom>
          <a:noFill/>
          <a:ln/>
        </p:spPr>
        <p:txBody>
          <a:bodyPr wrap="square" lIns="0" tIns="0" rIns="0" bIns="0" rtlCol="0" anchor="ctr"/>
          <a:lstStyle/>
          <a:p>
            <a:pPr indent="0" marL="0">
              <a:buNone/>
            </a:pPr>
            <a:r>
              <a:rPr lang="en-US" sz="1400" b="1" dirty="0">
                <a:solidFill>
                  <a:schemeClr val="tx2"/>
                </a:solidFill>
              </a:rPr>
              <a:t>Arm pose</a:t>
            </a:r>
            <a:endParaRPr lang="en-US" sz="1400" dirty="0"/>
          </a:p>
        </p:txBody>
      </p:sp>
      <p:sp>
        <p:nvSpPr>
          <p:cNvPr id="9" name="Text 6"/>
          <p:cNvSpPr txBox="1"/>
          <p:nvPr/>
        </p:nvSpPr>
        <p:spPr>
          <a:xfrm>
            <a:off x="3994473" y="3850834"/>
            <a:ext cx="2090780" cy="1097280"/>
          </a:xfrm>
          <a:prstGeom prst="rect">
            <a:avLst/>
          </a:prstGeom>
          <a:noFill/>
          <a:ln/>
        </p:spPr>
        <p:txBody>
          <a:bodyPr wrap="square" lIns="0" tIns="0" rIns="0" bIns="0" rtlCol="0" anchor="t"/>
          <a:lstStyle/>
          <a:p>
            <a:pPr indent="0" marL="0">
              <a:buNone/>
            </a:pPr>
            <a:r>
              <a:rPr lang="en-US" sz="1400" dirty="0">
                <a:solidFill>
                  <a:schemeClr val="tx1"/>
                </a:solidFill>
              </a:rPr>
              <a:t>Both elbows bent 15° more and both shoulders raised 10°, in every frame.</a:t>
            </a:r>
            <a:endParaRPr lang="en-US" sz="1400" dirty="0"/>
          </a:p>
        </p:txBody>
      </p:sp>
      <p:sp>
        <p:nvSpPr>
          <p:cNvPr id="10" name="result-dot-Arm pose"/>
          <p:cNvSpPr/>
          <p:nvPr/>
        </p:nvSpPr>
        <p:spPr>
          <a:xfrm>
            <a:off x="3994473" y="5057842"/>
            <a:ext cx="146304" cy="146304"/>
          </a:xfrm>
          <a:prstGeom prst="ellipse">
            <a:avLst/>
          </a:prstGeom>
          <a:solidFill>
            <a:schemeClr val="accent4"/>
          </a:solidFill>
          <a:ln/>
        </p:spPr>
      </p:sp>
      <p:sp>
        <p:nvSpPr>
          <p:cNvPr id="11" name="Text 8"/>
          <p:cNvSpPr txBox="1"/>
          <p:nvPr/>
        </p:nvSpPr>
        <p:spPr>
          <a:xfrm>
            <a:off x="4223073" y="4984690"/>
            <a:ext cx="1862180" cy="914400"/>
          </a:xfrm>
          <a:prstGeom prst="rect">
            <a:avLst/>
          </a:prstGeom>
          <a:noFill/>
          <a:ln/>
        </p:spPr>
        <p:txBody>
          <a:bodyPr wrap="square" lIns="0" tIns="0" rIns="0" bIns="0" rtlCol="0" anchor="t"/>
          <a:lstStyle/>
          <a:p>
            <a:pPr indent="0" marL="0">
              <a:buNone/>
            </a:pPr>
            <a:r>
              <a:rPr lang="en-US" sz="1300" dirty="0">
                <a:solidFill>
                  <a:schemeClr val="tx1"/>
                </a:solidFill>
              </a:rPr>
              <a:t>Wrists moved 94–115 mm, 3–4× the published ±4°. Use ±4°, then check location.</a:t>
            </a:r>
            <a:endParaRPr lang="en-US" sz="1300" dirty="0"/>
          </a:p>
        </p:txBody>
      </p:sp>
      <p:sp>
        <p:nvSpPr>
          <p:cNvPr id="12" name="Text 9"/>
          <p:cNvSpPr txBox="1"/>
          <p:nvPr/>
        </p:nvSpPr>
        <p:spPr>
          <a:xfrm>
            <a:off x="6184141" y="3539938"/>
            <a:ext cx="2090780" cy="292608"/>
          </a:xfrm>
          <a:prstGeom prst="rect">
            <a:avLst/>
          </a:prstGeom>
          <a:noFill/>
          <a:ln/>
        </p:spPr>
        <p:txBody>
          <a:bodyPr wrap="square" lIns="0" tIns="0" rIns="0" bIns="0" rtlCol="0" anchor="ctr"/>
          <a:lstStyle/>
          <a:p>
            <a:pPr indent="0" marL="0">
              <a:buNone/>
            </a:pPr>
            <a:r>
              <a:rPr lang="en-US" sz="1400" b="1" dirty="0">
                <a:solidFill>
                  <a:schemeClr val="tx2"/>
                </a:solidFill>
              </a:rPr>
              <a:t>Body shape</a:t>
            </a:r>
            <a:endParaRPr lang="en-US" sz="1400" dirty="0"/>
          </a:p>
        </p:txBody>
      </p:sp>
      <p:sp>
        <p:nvSpPr>
          <p:cNvPr id="13" name="Text 10"/>
          <p:cNvSpPr txBox="1"/>
          <p:nvPr/>
        </p:nvSpPr>
        <p:spPr>
          <a:xfrm>
            <a:off x="6184141" y="3850834"/>
            <a:ext cx="2090780" cy="1097280"/>
          </a:xfrm>
          <a:prstGeom prst="rect">
            <a:avLst/>
          </a:prstGeom>
          <a:noFill/>
          <a:ln/>
        </p:spPr>
        <p:txBody>
          <a:bodyPr wrap="square" lIns="0" tIns="0" rIns="0" bIns="0" rtlCol="0" anchor="t"/>
          <a:lstStyle/>
          <a:p>
            <a:pPr indent="0" marL="0">
              <a:buNone/>
            </a:pPr>
            <a:r>
              <a:rPr lang="en-US" sz="1400" dirty="0">
                <a:solidFill>
                  <a:schemeClr val="tx1"/>
                </a:solidFill>
              </a:rPr>
              <a:t>First SMPL-X shape value (betas[0]) raised by 2: a bigger body making the same joint angles.</a:t>
            </a:r>
            <a:endParaRPr lang="en-US" sz="1400" dirty="0"/>
          </a:p>
        </p:txBody>
      </p:sp>
      <p:sp>
        <p:nvSpPr>
          <p:cNvPr id="14" name="result-dot-Body shape"/>
          <p:cNvSpPr/>
          <p:nvPr/>
        </p:nvSpPr>
        <p:spPr>
          <a:xfrm>
            <a:off x="6184141" y="5057842"/>
            <a:ext cx="146304" cy="146304"/>
          </a:xfrm>
          <a:prstGeom prst="ellipse">
            <a:avLst/>
          </a:prstGeom>
          <a:solidFill>
            <a:schemeClr val="accent4"/>
          </a:solidFill>
          <a:ln/>
        </p:spPr>
      </p:sp>
      <p:sp>
        <p:nvSpPr>
          <p:cNvPr id="15" name="Text 12"/>
          <p:cNvSpPr txBox="1"/>
          <p:nvPr/>
        </p:nvSpPr>
        <p:spPr>
          <a:xfrm>
            <a:off x="6412741" y="4984690"/>
            <a:ext cx="1862180" cy="914400"/>
          </a:xfrm>
          <a:prstGeom prst="rect">
            <a:avLst/>
          </a:prstGeom>
          <a:noFill/>
          <a:ln/>
        </p:spPr>
        <p:txBody>
          <a:bodyPr wrap="square" lIns="0" tIns="0" rIns="0" bIns="0" rtlCol="0" anchor="t"/>
          <a:lstStyle/>
          <a:p>
            <a:pPr indent="0" marL="0">
              <a:buNone/>
            </a:pPr>
            <a:r>
              <a:rPr lang="en-US" sz="1300" dirty="0">
                <a:solidFill>
                  <a:schemeClr val="tx1"/>
                </a:solidFill>
              </a:rPr>
              <a:t>Arms 11–15% longer; wrists moved 68–83 mm. Re-aim the arms to keep the hands' spot.</a:t>
            </a:r>
            <a:endParaRPr lang="en-US" sz="1300" dirty="0"/>
          </a:p>
        </p:txBody>
      </p:sp>
      <p:sp>
        <p:nvSpPr>
          <p:cNvPr id="16" name="Text 13"/>
          <p:cNvSpPr txBox="1"/>
          <p:nvPr/>
        </p:nvSpPr>
        <p:spPr>
          <a:xfrm>
            <a:off x="8375574" y="3539938"/>
            <a:ext cx="2090780" cy="292608"/>
          </a:xfrm>
          <a:prstGeom prst="rect">
            <a:avLst/>
          </a:prstGeom>
          <a:noFill/>
          <a:ln/>
        </p:spPr>
        <p:txBody>
          <a:bodyPr wrap="square" lIns="0" tIns="0" rIns="0" bIns="0" rtlCol="0" anchor="ctr"/>
          <a:lstStyle/>
          <a:p>
            <a:pPr indent="0" marL="0">
              <a:buNone/>
            </a:pPr>
            <a:r>
              <a:rPr lang="en-US" sz="1400" b="1" dirty="0">
                <a:solidFill>
                  <a:schemeClr val="tx2"/>
                </a:solidFill>
              </a:rPr>
              <a:t>Time warp</a:t>
            </a:r>
            <a:endParaRPr lang="en-US" sz="1400" dirty="0"/>
          </a:p>
        </p:txBody>
      </p:sp>
      <p:sp>
        <p:nvSpPr>
          <p:cNvPr id="17" name="Text 14"/>
          <p:cNvSpPr txBox="1"/>
          <p:nvPr/>
        </p:nvSpPr>
        <p:spPr>
          <a:xfrm>
            <a:off x="8375574" y="3850834"/>
            <a:ext cx="2090780" cy="1097280"/>
          </a:xfrm>
          <a:prstGeom prst="rect">
            <a:avLst/>
          </a:prstGeom>
          <a:noFill/>
          <a:ln/>
        </p:spPr>
        <p:txBody>
          <a:bodyPr wrap="square" lIns="0" tIns="0" rIns="0" bIns="0" rtlCol="0" anchor="t"/>
          <a:lstStyle/>
          <a:p>
            <a:pPr indent="0" marL="0">
              <a:buNone/>
            </a:pPr>
            <a:r>
              <a:rPr lang="en-US" sz="1400" dirty="0">
                <a:solidFill>
                  <a:schemeClr val="tx1"/>
                </a:solidFill>
              </a:rPr>
              <a:t>Clip re-timed unevenly (k = 0.5): start and end up to 1.5× faster, middle down to 0.5×; same length.</a:t>
            </a:r>
            <a:endParaRPr lang="en-US" sz="1400" dirty="0"/>
          </a:p>
        </p:txBody>
      </p:sp>
      <p:sp>
        <p:nvSpPr>
          <p:cNvPr id="18" name="result-dot-Time warp"/>
          <p:cNvSpPr/>
          <p:nvPr/>
        </p:nvSpPr>
        <p:spPr>
          <a:xfrm>
            <a:off x="8375574" y="5057842"/>
            <a:ext cx="146304" cy="146304"/>
          </a:xfrm>
          <a:prstGeom prst="ellipse">
            <a:avLst/>
          </a:prstGeom>
          <a:solidFill>
            <a:schemeClr val="accent4"/>
          </a:solidFill>
          <a:ln/>
        </p:spPr>
      </p:sp>
      <p:sp>
        <p:nvSpPr>
          <p:cNvPr id="19" name="Text 16"/>
          <p:cNvSpPr txBox="1"/>
          <p:nvPr/>
        </p:nvSpPr>
        <p:spPr>
          <a:xfrm>
            <a:off x="8604174" y="4984690"/>
            <a:ext cx="1862180" cy="914400"/>
          </a:xfrm>
          <a:prstGeom prst="rect">
            <a:avLst/>
          </a:prstGeom>
          <a:noFill/>
          <a:ln/>
        </p:spPr>
        <p:txBody>
          <a:bodyPr wrap="square" lIns="0" tIns="0" rIns="0" bIns="0" rtlCol="0" anchor="t"/>
          <a:lstStyle/>
          <a:p>
            <a:pPr indent="0" marL="0">
              <a:buNone/>
            </a:pPr>
            <a:r>
              <a:rPr lang="en-US" sz="1300" dirty="0">
                <a:solidFill>
                  <a:schemeClr val="tx1"/>
                </a:solidFill>
              </a:rPr>
              <a:t>Uneven timing can mimic a different grammar form. Use one constant speed instead.</a:t>
            </a:r>
            <a:endParaRPr lang="en-US" sz="1300" dirty="0"/>
          </a:p>
        </p:txBody>
      </p:sp>
      <p:sp>
        <p:nvSpPr>
          <p:cNvPr id="20" name="Text 17"/>
          <p:cNvSpPr txBox="1"/>
          <p:nvPr/>
        </p:nvSpPr>
        <p:spPr>
          <a:xfrm>
            <a:off x="548640" y="6016752"/>
            <a:ext cx="11094415" cy="320040"/>
          </a:xfrm>
          <a:prstGeom prst="rect">
            <a:avLst/>
          </a:prstGeom>
          <a:noFill/>
          <a:ln/>
        </p:spPr>
        <p:txBody>
          <a:bodyPr wrap="square" lIns="0" tIns="0" rIns="0" bIns="0" rtlCol="0" anchor="ctr"/>
          <a:lstStyle/>
          <a:p>
            <a:pPr indent="0" marL="0">
              <a:buNone/>
            </a:pPr>
            <a:r>
              <a:rPr lang="en-US" sz="1100" i="1" dirty="0">
                <a:solidFill>
                  <a:schemeClr val="accent3"/>
                </a:solidFill>
              </a:rPr>
              <a:t>Green = augmented, blue = original. Wrist displacements are medians over clips 17083 and 57641.</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Every augmented clip is checked, then kept or rejected</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651760"/>
                <a:gridCol w="4297680"/>
              </a:tblGrid>
              <a:tr h="640080">
                <a:tc>
                  <a:txBody>
                    <a:bodyPr/>
                    <a:lstStyle/>
                    <a:p>
                      <a:pPr indent="0" marL="0">
                        <a:buNone/>
                      </a:pPr>
                      <a:r>
                        <a:rPr lang="en-US" sz="1500" b="1" dirty="0">
                          <a:solidFill>
                            <a:schemeClr val="bg1"/>
                          </a:solidFill>
                        </a:rPr>
                        <a:t>Invariant</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How it is measured</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tx2"/>
                    </a:solidFill>
                  </a:tcPr>
                </a:tc>
              </a:tr>
              <a:tr h="640080">
                <a:tc>
                  <a:txBody>
                    <a:bodyPr/>
                    <a:lstStyle/>
                    <a:p>
                      <a:pPr indent="0" marL="0">
                        <a:buNone/>
                      </a:pPr>
                      <a:r>
                        <a:rPr lang="en-US" sz="1500" b="1" dirty="0">
                          <a:solidFill>
                            <a:schemeClr val="tx1"/>
                          </a:solidFill>
                        </a:rPr>
                        <a:t>Location region at key frames</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V1.3 hand-to-face distance with ASL-LEX regions; body regions for torso signs</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1"/>
                          </a:solidFill>
                        </a:rPr>
                        <a:t>Contact, incl. with the weak hand</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V1.3 signed distance and contact flag; MANO hand-to-hand distance</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tx1"/>
                          </a:solidFill>
                        </a:rPr>
                        <a:t>Handshape category</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Selected fingers, flexion, spread, thumb, classified from MANO pose</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1"/>
                          </a:solidFill>
                        </a:rPr>
                        <a:t>Palm orientation class</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Palm normal relative to the torso frame</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tx1"/>
                          </a:solidFill>
                        </a:rPr>
                        <a:t>Repetitions and holds</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Peaks and plateaus in wrist speed</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tx1"/>
                          </a:solidFill>
                        </a:rPr>
                        <a:t>End deceleration</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Wrist speed over the last frames</a:t>
                      </a:r>
                      <a:endParaRPr lang="en-US" sz="1500" dirty="0"/>
                    </a:p>
                  </a:txBody>
                  <a:tcPr marL="91440" marR="91440" marT="36576" marB="36576" anchor="ctr">
                    <a:lnL w="6350" cap="flat" cmpd="sng" algn="ctr">
                      <a:solidFill>
                        <a:srgbClr val="DDE5E2"/>
                      </a:solidFill>
                      <a:prstDash val="solid"/>
                      <a:round/>
                      <a:headEnd type="none" w="med" len="med"/>
                      <a:tailEnd type="none" w="med" len="med"/>
                    </a:lnL>
                    <a:lnR w="6350" cap="flat" cmpd="sng" algn="ctr">
                      <a:solidFill>
                        <a:srgbClr val="DDE5E2"/>
                      </a:solidFill>
                      <a:prstDash val="solid"/>
                      <a:round/>
                      <a:headEnd type="none" w="med" len="med"/>
                      <a:tailEnd type="none" w="med" len="med"/>
                    </a:lnR>
                    <a:lnT w="6350" cap="flat" cmpd="sng" algn="ctr">
                      <a:solidFill>
                        <a:srgbClr val="DDE5E2"/>
                      </a:solidFill>
                      <a:prstDash val="solid"/>
                      <a:round/>
                      <a:headEnd type="none" w="med" len="med"/>
                      <a:tailEnd type="none" w="med" len="med"/>
                    </a:lnT>
                    <a:lnB w="6350" cap="flat" cmpd="sng" algn="ctr">
                      <a:solidFill>
                        <a:srgbClr val="DDE5E2"/>
                      </a:solidFill>
                      <a:prstDash val="solid"/>
                      <a:round/>
                      <a:headEnd type="none" w="med" len="med"/>
                      <a:tailEnd type="none" w="med" len="med"/>
                    </a:lnB>
                    <a:solidFill>
                      <a:schemeClr val="bg2"/>
                    </a:solidFill>
                  </a:tcPr>
                </a:tc>
              </a:tr>
            </a:tbl>
          </a:graphicData>
        </a:graphic>
      </p:graphicFrame>
      <p:sp>
        <p:nvSpPr>
          <p:cNvPr id="4" name="aslex-card"/>
          <p:cNvSpPr/>
          <p:nvPr/>
        </p:nvSpPr>
        <p:spPr>
          <a:xfrm>
            <a:off x="7955280" y="1325880"/>
            <a:ext cx="3685032" cy="4526280"/>
          </a:xfrm>
          <a:prstGeom prst="rect">
            <a:avLst/>
          </a:prstGeom>
          <a:solidFill>
            <a:schemeClr val="bg2"/>
          </a:solidFill>
          <a:ln/>
        </p:spPr>
      </p:sp>
      <p:sp>
        <p:nvSpPr>
          <p:cNvPr id="5" name="Text 2"/>
          <p:cNvSpPr txBox="1"/>
          <p:nvPr/>
        </p:nvSpPr>
        <p:spPr>
          <a:xfrm>
            <a:off x="8229600" y="1508760"/>
            <a:ext cx="3154680" cy="731520"/>
          </a:xfrm>
          <a:prstGeom prst="rect">
            <a:avLst/>
          </a:prstGeom>
          <a:noFill/>
          <a:ln/>
        </p:spPr>
        <p:txBody>
          <a:bodyPr wrap="square" lIns="0" tIns="0" rIns="0" bIns="0" rtlCol="0" anchor="t"/>
          <a:lstStyle/>
          <a:p>
            <a:pPr indent="0" marL="0">
              <a:buNone/>
            </a:pPr>
            <a:r>
              <a:rPr lang="en-US" sz="1700" b="1" dirty="0">
                <a:solidFill>
                  <a:schemeClr val="tx2"/>
                </a:solidFill>
              </a:rPr>
              <a:t>Per-sign gating with ASL-LEX 2.0</a:t>
            </a:r>
            <a:endParaRPr lang="en-US" sz="1700" dirty="0"/>
          </a:p>
        </p:txBody>
      </p:sp>
      <p:sp>
        <p:nvSpPr>
          <p:cNvPr id="6" name="Text 3"/>
          <p:cNvSpPr txBox="1"/>
          <p:nvPr/>
        </p:nvSpPr>
        <p:spPr>
          <a:xfrm>
            <a:off x="8229600" y="2240280"/>
            <a:ext cx="3154680" cy="685800"/>
          </a:xfrm>
          <a:prstGeom prst="rect">
            <a:avLst/>
          </a:prstGeom>
          <a:noFill/>
          <a:ln/>
        </p:spPr>
        <p:txBody>
          <a:bodyPr wrap="square" lIns="0" tIns="0" rIns="0" bIns="0" rtlCol="0" anchor="b"/>
          <a:lstStyle/>
          <a:p>
            <a:pPr indent="0" marL="0">
              <a:buNone/>
            </a:pPr>
            <a:r>
              <a:rPr lang="en-US" sz="4000" b="1" dirty="0">
                <a:solidFill>
                  <a:schemeClr val="accent1"/>
                </a:solidFill>
              </a:rPr>
              <a:t>≈ 48%</a:t>
            </a:r>
            <a:endParaRPr lang="en-US" sz="4000" dirty="0"/>
          </a:p>
        </p:txBody>
      </p:sp>
      <p:sp>
        <p:nvSpPr>
          <p:cNvPr id="7" name="Text 4"/>
          <p:cNvSpPr txBox="1"/>
          <p:nvPr/>
        </p:nvSpPr>
        <p:spPr>
          <a:xfrm>
            <a:off x="8229600" y="2971800"/>
            <a:ext cx="3154680" cy="594360"/>
          </a:xfrm>
          <a:prstGeom prst="rect">
            <a:avLst/>
          </a:prstGeom>
          <a:noFill/>
          <a:ln/>
        </p:spPr>
        <p:txBody>
          <a:bodyPr wrap="square" lIns="0" tIns="0" rIns="0" bIns="0" rtlCol="0" anchor="t"/>
          <a:lstStyle/>
          <a:p>
            <a:pPr indent="0" marL="0">
              <a:buNone/>
            </a:pPr>
            <a:r>
              <a:rPr lang="en-US" sz="1300" dirty="0">
                <a:solidFill>
                  <a:schemeClr val="tx1"/>
                </a:solidFill>
              </a:rPr>
              <a:t>of WLASL videos carry ASL-LEX phonological labels</a:t>
            </a:r>
            <a:endParaRPr lang="en-US" sz="1300" dirty="0"/>
          </a:p>
        </p:txBody>
      </p:sp>
      <p:sp>
        <p:nvSpPr>
          <p:cNvPr id="8" name="Text 5"/>
          <p:cNvSpPr txBox="1"/>
          <p:nvPr/>
        </p:nvSpPr>
        <p:spPr>
          <a:xfrm>
            <a:off x="8229600" y="3657600"/>
            <a:ext cx="3154680" cy="20574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Labelled signs: all safe changes, including sign-specific ones gated by sign type, location, contact, handshape</a:t>
            </a:r>
            <a:endParaRPr lang="en-US" sz="1300" dirty="0"/>
          </a:p>
          <a:p>
            <a:pPr marL="203200" indent="-203200">
              <a:spcAft>
                <a:spcPts val="600"/>
              </a:spcAft>
              <a:buSzPct val="100000"/>
              <a:buChar char="•"/>
            </a:pPr>
            <a:r>
              <a:rPr lang="en-US" sz="1300" dirty="0">
                <a:solidFill>
                  <a:schemeClr val="tx1"/>
                </a:solidFill>
              </a:rPr>
              <a:t>Unlabelled signs: only changes safe for every sign</a:t>
            </a:r>
            <a:endParaRPr lang="en-US" sz="1300" dirty="0"/>
          </a:p>
          <a:p>
            <a:pPr marL="203200" indent="-203200">
              <a:spcAft>
                <a:spcPts val="600"/>
              </a:spcAft>
              <a:buSzPct val="100000"/>
              <a:buChar char="•"/>
            </a:pPr>
            <a:r>
              <a:rPr lang="en-US" sz="1300" dirty="0">
                <a:solidFill>
                  <a:schemeClr val="tx1"/>
                </a:solidFill>
              </a:rPr>
              <a:t>Licence unresolved (CC BY-NC vs CC BY); assume non-commercial</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640080"/>
          </a:xfrm>
          <a:prstGeom prst="rect">
            <a:avLst/>
          </a:prstGeom>
          <a:noFill/>
          <a:ln/>
        </p:spPr>
        <p:txBody>
          <a:bodyPr wrap="square" lIns="0" tIns="0" rIns="0" bIns="0" rtlCol="0" anchor="b"/>
          <a:lstStyle/>
          <a:p>
            <a:pPr indent="0" marL="0">
              <a:buNone/>
            </a:pPr>
            <a:r>
              <a:rPr lang="en-US" sz="2000" b="1" dirty="0">
                <a:solidFill>
                  <a:schemeClr val="accent1"/>
                </a:solidFill>
              </a:rPr>
              <a:t>Part 3</a:t>
            </a:r>
            <a:endParaRPr lang="en-US" sz="2000" dirty="0"/>
          </a:p>
        </p:txBody>
      </p:sp>
      <p:sp>
        <p:nvSpPr>
          <p:cNvPr id="3" name="Text 0"/>
          <p:cNvSpPr/>
          <p:nvPr>
            <p:ph idx="101" type="title" hasCustomPrompt="1"/>
          </p:nvPr>
        </p:nvSpPr>
        <p:spPr>
          <a:xfrm>
            <a:off x="731520" y="25603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The face as a landmark for hand location</a:t>
            </a:r>
            <a:endParaRPr lang="en-US" sz="4400" dirty="0"/>
          </a:p>
        </p:txBody>
      </p:sp>
      <p:sp>
        <p:nvSpPr>
          <p:cNvPr id="4" name="Text 0"/>
          <p:cNvSpPr/>
          <p:nvPr>
            <p:ph idx="102" type="body" hasCustomPrompt="1"/>
          </p:nvPr>
        </p:nvSpPr>
        <p:spPr>
          <a:xfrm>
            <a:off x="731520" y="3840480"/>
            <a:ext cx="8686800" cy="1097280"/>
          </a:xfrm>
          <a:prstGeom prst="rect">
            <a:avLst/>
          </a:prstGeom>
          <a:noFill/>
          <a:ln/>
        </p:spPr>
        <p:txBody>
          <a:bodyPr wrap="square" lIns="0" tIns="0" rIns="0" bIns="0" rtlCol="0" anchor="t"/>
          <a:lstStyle/>
          <a:p>
            <a:pPr indent="0" marL="0">
              <a:buNone/>
            </a:pPr>
            <a:r>
              <a:rPr lang="en-US" sz="1800" dirty="0">
                <a:solidFill>
                  <a:schemeClr val="accent5"/>
                </a:solidFill>
              </a:rPr>
              <a:t>Head, neck and jaw fitted to MediaPipe FaceLandmarker; signed hand-to-face distances with ASL-LEX regions; a face stream for training.</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What the face pipeline measures</a:t>
            </a:r>
            <a:endParaRPr lang="en-US" sz="3600" dirty="0"/>
          </a:p>
        </p:txBody>
      </p:sp>
      <p:sp>
        <p:nvSpPr>
          <p:cNvPr id="3" name="dot-1"/>
          <p:cNvSpPr/>
          <p:nvPr/>
        </p:nvSpPr>
        <p:spPr>
          <a:xfrm>
            <a:off x="548640" y="1399032"/>
            <a:ext cx="411480" cy="411480"/>
          </a:xfrm>
          <a:prstGeom prst="ellipse">
            <a:avLst/>
          </a:prstGeom>
          <a:solidFill>
            <a:schemeClr val="accent1"/>
          </a:solidFill>
          <a:ln/>
        </p:spPr>
      </p:sp>
      <p:sp>
        <p:nvSpPr>
          <p:cNvPr id="4" name="Text 2"/>
          <p:cNvSpPr txBox="1"/>
          <p:nvPr/>
        </p:nvSpPr>
        <p:spPr>
          <a:xfrm>
            <a:off x="548640" y="139903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143000" y="1371600"/>
            <a:ext cx="4937760" cy="411480"/>
          </a:xfrm>
          <a:prstGeom prst="rect">
            <a:avLst/>
          </a:prstGeom>
          <a:noFill/>
          <a:ln/>
        </p:spPr>
        <p:txBody>
          <a:bodyPr wrap="square" lIns="0" tIns="0" rIns="0" bIns="0" rtlCol="0" anchor="ctr"/>
          <a:lstStyle/>
          <a:p>
            <a:pPr indent="0" marL="0">
              <a:buNone/>
            </a:pPr>
            <a:r>
              <a:rPr lang="en-US" sz="1700" b="1" dirty="0">
                <a:solidFill>
                  <a:schemeClr val="tx2"/>
                </a:solidFill>
              </a:rPr>
              <a:t>FaceLandmarker pass</a:t>
            </a:r>
            <a:endParaRPr lang="en-US" sz="1700" dirty="0"/>
          </a:p>
        </p:txBody>
      </p:sp>
      <p:sp>
        <p:nvSpPr>
          <p:cNvPr id="6" name="Text 4"/>
          <p:cNvSpPr txBox="1"/>
          <p:nvPr/>
        </p:nvSpPr>
        <p:spPr>
          <a:xfrm>
            <a:off x="1143000" y="1792224"/>
            <a:ext cx="4937760" cy="685800"/>
          </a:xfrm>
          <a:prstGeom prst="rect">
            <a:avLst/>
          </a:prstGeom>
          <a:noFill/>
          <a:ln/>
        </p:spPr>
        <p:txBody>
          <a:bodyPr wrap="square" lIns="0" tIns="0" rIns="0" bIns="0" rtlCol="0" anchor="t"/>
          <a:lstStyle/>
          <a:p>
            <a:pPr indent="0" marL="0">
              <a:buNone/>
            </a:pPr>
            <a:r>
              <a:rPr lang="en-US" sz="1400" dirty="0">
                <a:solidFill>
                  <a:schemeClr val="tx1"/>
                </a:solidFill>
              </a:rPr>
              <a:t>478 points, 52 blendshapes and a head-pose matrix per frame</a:t>
            </a:r>
            <a:endParaRPr lang="en-US" sz="1400" dirty="0"/>
          </a:p>
        </p:txBody>
      </p:sp>
      <p:sp>
        <p:nvSpPr>
          <p:cNvPr id="7" name="dot-2"/>
          <p:cNvSpPr/>
          <p:nvPr/>
        </p:nvSpPr>
        <p:spPr>
          <a:xfrm>
            <a:off x="548640" y="2542032"/>
            <a:ext cx="411480" cy="411480"/>
          </a:xfrm>
          <a:prstGeom prst="ellipse">
            <a:avLst/>
          </a:prstGeom>
          <a:solidFill>
            <a:schemeClr val="accent1"/>
          </a:solidFill>
          <a:ln/>
        </p:spPr>
      </p:sp>
      <p:sp>
        <p:nvSpPr>
          <p:cNvPr id="8" name="Text 6"/>
          <p:cNvSpPr txBox="1"/>
          <p:nvPr/>
        </p:nvSpPr>
        <p:spPr>
          <a:xfrm>
            <a:off x="548640" y="254203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143000" y="2514600"/>
            <a:ext cx="4937760" cy="411480"/>
          </a:xfrm>
          <a:prstGeom prst="rect">
            <a:avLst/>
          </a:prstGeom>
          <a:noFill/>
          <a:ln/>
        </p:spPr>
        <p:txBody>
          <a:bodyPr wrap="square" lIns="0" tIns="0" rIns="0" bIns="0" rtlCol="0" anchor="ctr"/>
          <a:lstStyle/>
          <a:p>
            <a:pPr indent="0" marL="0">
              <a:buNone/>
            </a:pPr>
            <a:r>
              <a:rPr lang="en-US" sz="1700" b="1" dirty="0">
                <a:solidFill>
                  <a:schemeClr val="tx2"/>
                </a:solidFill>
              </a:rPr>
              <a:t>Head, neck and jaw fit</a:t>
            </a:r>
            <a:endParaRPr lang="en-US" sz="1700" dirty="0"/>
          </a:p>
        </p:txBody>
      </p:sp>
      <p:sp>
        <p:nvSpPr>
          <p:cNvPr id="10" name="Text 8"/>
          <p:cNvSpPr txBox="1"/>
          <p:nvPr/>
        </p:nvSpPr>
        <p:spPr>
          <a:xfrm>
            <a:off x="1143000" y="2935224"/>
            <a:ext cx="4937760" cy="685800"/>
          </a:xfrm>
          <a:prstGeom prst="rect">
            <a:avLst/>
          </a:prstGeom>
          <a:noFill/>
          <a:ln/>
        </p:spPr>
        <p:txBody>
          <a:bodyPr wrap="square" lIns="0" tIns="0" rIns="0" bIns="0" rtlCol="0" anchor="t"/>
          <a:lstStyle/>
          <a:p>
            <a:pPr indent="0" marL="0">
              <a:buNone/>
            </a:pPr>
            <a:r>
              <a:rPr lang="en-US" sz="1400" dirty="0">
                <a:solidFill>
                  <a:schemeClr val="tx1"/>
                </a:solidFill>
              </a:rPr>
              <a:t>Occlusion-aware rotation from 17 rigid points; neck swung to the observed ears; jaw pitch from the lip gap</a:t>
            </a:r>
            <a:endParaRPr lang="en-US" sz="1400" dirty="0"/>
          </a:p>
        </p:txBody>
      </p:sp>
      <p:sp>
        <p:nvSpPr>
          <p:cNvPr id="11" name="dot-3"/>
          <p:cNvSpPr/>
          <p:nvPr/>
        </p:nvSpPr>
        <p:spPr>
          <a:xfrm>
            <a:off x="548640" y="3685032"/>
            <a:ext cx="411480" cy="411480"/>
          </a:xfrm>
          <a:prstGeom prst="ellipse">
            <a:avLst/>
          </a:prstGeom>
          <a:solidFill>
            <a:schemeClr val="accent1"/>
          </a:solidFill>
          <a:ln/>
        </p:spPr>
      </p:sp>
      <p:sp>
        <p:nvSpPr>
          <p:cNvPr id="12" name="Text 10"/>
          <p:cNvSpPr txBox="1"/>
          <p:nvPr/>
        </p:nvSpPr>
        <p:spPr>
          <a:xfrm>
            <a:off x="548640" y="368503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143000" y="3657600"/>
            <a:ext cx="4937760" cy="411480"/>
          </a:xfrm>
          <a:prstGeom prst="rect">
            <a:avLst/>
          </a:prstGeom>
          <a:noFill/>
          <a:ln/>
        </p:spPr>
        <p:txBody>
          <a:bodyPr wrap="square" lIns="0" tIns="0" rIns="0" bIns="0" rtlCol="0" anchor="ctr"/>
          <a:lstStyle/>
          <a:p>
            <a:pPr indent="0" marL="0">
              <a:buNone/>
            </a:pPr>
            <a:r>
              <a:rPr lang="en-US" sz="1700" b="1" dirty="0">
                <a:solidFill>
                  <a:schemeClr val="tx2"/>
                </a:solidFill>
              </a:rPr>
              <a:t>Hand-to-face geometry</a:t>
            </a:r>
            <a:endParaRPr lang="en-US" sz="1700" dirty="0"/>
          </a:p>
        </p:txBody>
      </p:sp>
      <p:sp>
        <p:nvSpPr>
          <p:cNvPr id="14" name="Text 12"/>
          <p:cNvSpPr txBox="1"/>
          <p:nvPr/>
        </p:nvSpPr>
        <p:spPr>
          <a:xfrm>
            <a:off x="1143000" y="4078224"/>
            <a:ext cx="4937760" cy="685800"/>
          </a:xfrm>
          <a:prstGeom prst="rect">
            <a:avLst/>
          </a:prstGeom>
          <a:noFill/>
          <a:ln/>
        </p:spPr>
        <p:txBody>
          <a:bodyPr wrap="square" lIns="0" tIns="0" rIns="0" bIns="0" rtlCol="0" anchor="t"/>
          <a:lstStyle/>
          <a:p>
            <a:pPr indent="0" marL="0">
              <a:buNone/>
            </a:pPr>
            <a:r>
              <a:rPr lang="en-US" sz="1400" dirty="0">
                <a:solidFill>
                  <a:schemeClr val="tx1"/>
                </a:solidFill>
              </a:rPr>
              <a:t>Signed distance from 7 points per hand to the SMPL-X head, its ASL-LEX region, and a contact flag (&lt; 2 cm)</a:t>
            </a:r>
            <a:endParaRPr lang="en-US" sz="1400" dirty="0"/>
          </a:p>
        </p:txBody>
      </p:sp>
      <p:sp>
        <p:nvSpPr>
          <p:cNvPr id="15" name="dot-4"/>
          <p:cNvSpPr/>
          <p:nvPr/>
        </p:nvSpPr>
        <p:spPr>
          <a:xfrm>
            <a:off x="548640" y="4828032"/>
            <a:ext cx="411480" cy="411480"/>
          </a:xfrm>
          <a:prstGeom prst="ellipse">
            <a:avLst/>
          </a:prstGeom>
          <a:solidFill>
            <a:schemeClr val="accent1"/>
          </a:solidFill>
          <a:ln/>
        </p:spPr>
      </p:sp>
      <p:sp>
        <p:nvSpPr>
          <p:cNvPr id="16" name="Text 14"/>
          <p:cNvSpPr txBox="1"/>
          <p:nvPr/>
        </p:nvSpPr>
        <p:spPr>
          <a:xfrm>
            <a:off x="548640" y="482803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143000" y="4800600"/>
            <a:ext cx="4937760" cy="411480"/>
          </a:xfrm>
          <a:prstGeom prst="rect">
            <a:avLst/>
          </a:prstGeom>
          <a:noFill/>
          <a:ln/>
        </p:spPr>
        <p:txBody>
          <a:bodyPr wrap="square" lIns="0" tIns="0" rIns="0" bIns="0" rtlCol="0" anchor="ctr"/>
          <a:lstStyle/>
          <a:p>
            <a:pPr indent="0" marL="0">
              <a:buNone/>
            </a:pPr>
            <a:r>
              <a:rPr lang="en-US" sz="1700" b="1" dirty="0">
                <a:solidFill>
                  <a:schemeClr val="tx2"/>
                </a:solidFill>
              </a:rPr>
              <a:t>Face stream</a:t>
            </a:r>
            <a:endParaRPr lang="en-US" sz="1700" dirty="0"/>
          </a:p>
        </p:txBody>
      </p:sp>
      <p:sp>
        <p:nvSpPr>
          <p:cNvPr id="18" name="Text 16"/>
          <p:cNvSpPr txBox="1"/>
          <p:nvPr/>
        </p:nvSpPr>
        <p:spPr>
          <a:xfrm>
            <a:off x="1143000" y="5221224"/>
            <a:ext cx="4937760" cy="685800"/>
          </a:xfrm>
          <a:prstGeom prst="rect">
            <a:avLst/>
          </a:prstGeom>
          <a:noFill/>
          <a:ln/>
        </p:spPr>
        <p:txBody>
          <a:bodyPr wrap="square" lIns="0" tIns="0" rIns="0" bIns="0" rtlCol="0" anchor="t"/>
          <a:lstStyle/>
          <a:p>
            <a:pPr indent="0" marL="0">
              <a:buNone/>
            </a:pPr>
            <a:r>
              <a:rPr lang="en-US" sz="1400" dirty="0">
                <a:solidFill>
                  <a:schemeClr val="tx1"/>
                </a:solidFill>
              </a:rPr>
              <a:t>478 points stored head-local, plus blendshapes, as a separate classifier branch</a:t>
            </a:r>
            <a:endParaRPr lang="en-US" sz="1400" dirty="0"/>
          </a:p>
        </p:txBody>
      </p:sp>
      <p:pic>
        <p:nvPicPr>
          <p:cNvPr id="19" name="Image 0" descr="SMPL-X head surface coloured by ASL-LEX location region, front and side views">    </p:cNvPr>
          <p:cNvPicPr>
            <a:picLocks noChangeAspect="1"/>
          </p:cNvPicPr>
          <p:nvPr/>
        </p:nvPicPr>
        <p:blipFill>
          <a:blip r:embed="rId1"/>
          <a:stretch>
            <a:fillRect/>
          </a:stretch>
        </p:blipFill>
        <p:spPr>
          <a:xfrm>
            <a:off x="5973775" y="1280160"/>
            <a:ext cx="5669280" cy="4148254"/>
          </a:xfrm>
          <a:prstGeom prst="rect">
            <a:avLst/>
          </a:prstGeom>
        </p:spPr>
      </p:pic>
      <p:sp>
        <p:nvSpPr>
          <p:cNvPr id="20" name="Text 17"/>
          <p:cNvSpPr txBox="1"/>
          <p:nvPr/>
        </p:nvSpPr>
        <p:spPr>
          <a:xfrm>
            <a:off x="5973775" y="5474134"/>
            <a:ext cx="5669280" cy="320040"/>
          </a:xfrm>
          <a:prstGeom prst="rect">
            <a:avLst/>
          </a:prstGeom>
          <a:noFill/>
          <a:ln/>
        </p:spPr>
        <p:txBody>
          <a:bodyPr wrap="square" lIns="0" tIns="0" rIns="0" bIns="0" rtlCol="0" anchor="ctr"/>
          <a:lstStyle/>
          <a:p>
            <a:pPr algn="ctr" indent="0" marL="0">
              <a:buNone/>
            </a:pPr>
            <a:r>
              <a:rPr lang="en-US" sz="1100" i="1" dirty="0">
                <a:solidFill>
                  <a:schemeClr val="accent3"/>
                </a:solidFill>
              </a:rPr>
              <a:t>SMPL-X head labelled with ASL-LEX regions</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Head and jaw fits pass their gate</a:t>
            </a:r>
            <a:endParaRPr lang="en-US" sz="3600" dirty="0"/>
          </a:p>
        </p:txBody>
      </p:sp>
      <p:sp>
        <p:nvSpPr>
          <p:cNvPr id="3" name="gate-stat-1"/>
          <p:cNvSpPr/>
          <p:nvPr/>
        </p:nvSpPr>
        <p:spPr>
          <a:xfrm>
            <a:off x="548640" y="1371600"/>
            <a:ext cx="2567864" cy="2651760"/>
          </a:xfrm>
          <a:prstGeom prst="rect">
            <a:avLst/>
          </a:prstGeom>
          <a:solidFill>
            <a:schemeClr val="bg2"/>
          </a:solidFill>
          <a:ln/>
        </p:spPr>
      </p:sp>
      <p:sp>
        <p:nvSpPr>
          <p:cNvPr id="4" name="Text 2"/>
          <p:cNvSpPr txBox="1"/>
          <p:nvPr/>
        </p:nvSpPr>
        <p:spPr>
          <a:xfrm>
            <a:off x="777240" y="1554480"/>
            <a:ext cx="2110664" cy="731520"/>
          </a:xfrm>
          <a:prstGeom prst="rect">
            <a:avLst/>
          </a:prstGeom>
          <a:noFill/>
          <a:ln/>
        </p:spPr>
        <p:txBody>
          <a:bodyPr wrap="square" lIns="0" tIns="0" rIns="0" bIns="0" rtlCol="0" anchor="b"/>
          <a:lstStyle/>
          <a:p>
            <a:pPr indent="0" marL="0">
              <a:buNone/>
            </a:pPr>
            <a:r>
              <a:rPr lang="en-US" sz="3200" b="1" dirty="0">
                <a:solidFill>
                  <a:schemeClr val="accent2"/>
                </a:solidFill>
              </a:rPr>
              <a:t>0.58°</a:t>
            </a:r>
            <a:endParaRPr lang="en-US" sz="3200" dirty="0"/>
          </a:p>
        </p:txBody>
      </p:sp>
      <p:sp>
        <p:nvSpPr>
          <p:cNvPr id="5" name="Text 3"/>
          <p:cNvSpPr txBox="1"/>
          <p:nvPr/>
        </p:nvSpPr>
        <p:spPr>
          <a:xfrm>
            <a:off x="777240" y="2377440"/>
            <a:ext cx="2110664" cy="1508760"/>
          </a:xfrm>
          <a:prstGeom prst="rect">
            <a:avLst/>
          </a:prstGeom>
          <a:noFill/>
          <a:ln/>
        </p:spPr>
        <p:txBody>
          <a:bodyPr wrap="square" lIns="0" tIns="0" rIns="0" bIns="0" rtlCol="0" anchor="t"/>
          <a:lstStyle/>
          <a:p>
            <a:pPr indent="0" marL="0">
              <a:buNone/>
            </a:pPr>
            <a:r>
              <a:rPr lang="en-US" sz="1400" dirty="0">
                <a:solidFill>
                  <a:schemeClr val="tx1"/>
                </a:solidFill>
              </a:rPr>
              <a:t>head-pose agreement with FaceLandmarker, median on near-face frames (target ≤ 5°; p95 2.66°)</a:t>
            </a:r>
            <a:endParaRPr lang="en-US" sz="1400" dirty="0"/>
          </a:p>
        </p:txBody>
      </p:sp>
      <p:sp>
        <p:nvSpPr>
          <p:cNvPr id="6" name="gate-stat-2"/>
          <p:cNvSpPr/>
          <p:nvPr/>
        </p:nvSpPr>
        <p:spPr>
          <a:xfrm>
            <a:off x="3390824" y="1371600"/>
            <a:ext cx="2567864" cy="2651760"/>
          </a:xfrm>
          <a:prstGeom prst="rect">
            <a:avLst/>
          </a:prstGeom>
          <a:solidFill>
            <a:schemeClr val="bg2"/>
          </a:solidFill>
          <a:ln/>
        </p:spPr>
      </p:sp>
      <p:sp>
        <p:nvSpPr>
          <p:cNvPr id="7" name="Text 5"/>
          <p:cNvSpPr txBox="1"/>
          <p:nvPr/>
        </p:nvSpPr>
        <p:spPr>
          <a:xfrm>
            <a:off x="3619424" y="1554480"/>
            <a:ext cx="2110664" cy="731520"/>
          </a:xfrm>
          <a:prstGeom prst="rect">
            <a:avLst/>
          </a:prstGeom>
          <a:noFill/>
          <a:ln/>
        </p:spPr>
        <p:txBody>
          <a:bodyPr wrap="square" lIns="0" tIns="0" rIns="0" bIns="0" rtlCol="0" anchor="b"/>
          <a:lstStyle/>
          <a:p>
            <a:pPr indent="0" marL="0">
              <a:buNone/>
            </a:pPr>
            <a:r>
              <a:rPr lang="en-US" sz="3200" b="1" dirty="0">
                <a:solidFill>
                  <a:schemeClr val="accent2"/>
                </a:solidFill>
              </a:rPr>
              <a:t>0.92</a:t>
            </a:r>
            <a:endParaRPr lang="en-US" sz="3200" dirty="0"/>
          </a:p>
        </p:txBody>
      </p:sp>
      <p:sp>
        <p:nvSpPr>
          <p:cNvPr id="8" name="Text 6"/>
          <p:cNvSpPr txBox="1"/>
          <p:nvPr/>
        </p:nvSpPr>
        <p:spPr>
          <a:xfrm>
            <a:off x="3619424" y="2377440"/>
            <a:ext cx="2110664" cy="1508760"/>
          </a:xfrm>
          <a:prstGeom prst="rect">
            <a:avLst/>
          </a:prstGeom>
          <a:noFill/>
          <a:ln/>
        </p:spPr>
        <p:txBody>
          <a:bodyPr wrap="square" lIns="0" tIns="0" rIns="0" bIns="0" rtlCol="0" anchor="t"/>
          <a:lstStyle/>
          <a:p>
            <a:pPr indent="0" marL="0">
              <a:buNone/>
            </a:pPr>
            <a:r>
              <a:rPr lang="en-US" sz="1400" dirty="0">
                <a:solidFill>
                  <a:schemeClr val="tx1"/>
                </a:solidFill>
              </a:rPr>
              <a:t>jaw pitch vs jawOpen rank correlation, median; 6 of 8 scorable clips ≥ 0.7</a:t>
            </a:r>
            <a:endParaRPr lang="en-US" sz="1400" dirty="0"/>
          </a:p>
        </p:txBody>
      </p:sp>
      <p:sp>
        <p:nvSpPr>
          <p:cNvPr id="9" name="gate-stat-3"/>
          <p:cNvSpPr/>
          <p:nvPr/>
        </p:nvSpPr>
        <p:spPr>
          <a:xfrm>
            <a:off x="6233008" y="1371600"/>
            <a:ext cx="2567864" cy="2651760"/>
          </a:xfrm>
          <a:prstGeom prst="rect">
            <a:avLst/>
          </a:prstGeom>
          <a:solidFill>
            <a:schemeClr val="bg2"/>
          </a:solidFill>
          <a:ln/>
        </p:spPr>
      </p:sp>
      <p:sp>
        <p:nvSpPr>
          <p:cNvPr id="10" name="Text 8"/>
          <p:cNvSpPr txBox="1"/>
          <p:nvPr/>
        </p:nvSpPr>
        <p:spPr>
          <a:xfrm>
            <a:off x="6461608" y="1554480"/>
            <a:ext cx="2110664" cy="731520"/>
          </a:xfrm>
          <a:prstGeom prst="rect">
            <a:avLst/>
          </a:prstGeom>
          <a:noFill/>
          <a:ln/>
        </p:spPr>
        <p:txBody>
          <a:bodyPr wrap="square" lIns="0" tIns="0" rIns="0" bIns="0" rtlCol="0" anchor="b"/>
          <a:lstStyle/>
          <a:p>
            <a:pPr indent="0" marL="0">
              <a:buNone/>
            </a:pPr>
            <a:r>
              <a:rPr lang="en-US" sz="3200" b="1" dirty="0">
                <a:solidFill>
                  <a:schemeClr val="accent2"/>
                </a:solidFill>
              </a:rPr>
              <a:t>7.6 → 2.8%</a:t>
            </a:r>
            <a:endParaRPr lang="en-US" sz="3200" dirty="0"/>
          </a:p>
        </p:txBody>
      </p:sp>
      <p:sp>
        <p:nvSpPr>
          <p:cNvPr id="11" name="Text 9"/>
          <p:cNvSpPr txBox="1"/>
          <p:nvPr/>
        </p:nvSpPr>
        <p:spPr>
          <a:xfrm>
            <a:off x="6461608" y="2377440"/>
            <a:ext cx="2110664" cy="1508760"/>
          </a:xfrm>
          <a:prstGeom prst="rect">
            <a:avLst/>
          </a:prstGeom>
          <a:noFill/>
          <a:ln/>
        </p:spPr>
        <p:txBody>
          <a:bodyPr wrap="square" lIns="0" tIns="0" rIns="0" bIns="0" rtlCol="0" anchor="t"/>
          <a:lstStyle/>
          <a:p>
            <a:pPr indent="0" marL="0">
              <a:buNone/>
            </a:pPr>
            <a:r>
              <a:rPr lang="en-US" sz="1400" dirty="0">
                <a:solidFill>
                  <a:schemeClr val="tx1"/>
                </a:solidFill>
              </a:rPr>
              <a:t>ear-midpoint error (% shoulder width) once the neck swings, far frames</a:t>
            </a:r>
            <a:endParaRPr lang="en-US" sz="1400" dirty="0"/>
          </a:p>
        </p:txBody>
      </p:sp>
      <p:sp>
        <p:nvSpPr>
          <p:cNvPr id="12" name="gate-stat-4"/>
          <p:cNvSpPr/>
          <p:nvPr/>
        </p:nvSpPr>
        <p:spPr>
          <a:xfrm>
            <a:off x="9075191" y="1371600"/>
            <a:ext cx="2567864" cy="2651760"/>
          </a:xfrm>
          <a:prstGeom prst="rect">
            <a:avLst/>
          </a:prstGeom>
          <a:solidFill>
            <a:schemeClr val="bg2"/>
          </a:solidFill>
          <a:ln/>
        </p:spPr>
      </p:sp>
      <p:sp>
        <p:nvSpPr>
          <p:cNvPr id="13" name="Text 11"/>
          <p:cNvSpPr txBox="1"/>
          <p:nvPr/>
        </p:nvSpPr>
        <p:spPr>
          <a:xfrm>
            <a:off x="9303791" y="1554480"/>
            <a:ext cx="2110664" cy="731520"/>
          </a:xfrm>
          <a:prstGeom prst="rect">
            <a:avLst/>
          </a:prstGeom>
          <a:noFill/>
          <a:ln/>
        </p:spPr>
        <p:txBody>
          <a:bodyPr wrap="square" lIns="0" tIns="0" rIns="0" bIns="0" rtlCol="0" anchor="b"/>
          <a:lstStyle/>
          <a:p>
            <a:pPr indent="0" marL="0">
              <a:buNone/>
            </a:pPr>
            <a:r>
              <a:rPr lang="en-US" sz="3200" b="1" dirty="0">
                <a:solidFill>
                  <a:schemeClr val="accent2"/>
                </a:solidFill>
              </a:rPr>
              <a:t>1.3–1.5 mm</a:t>
            </a:r>
            <a:endParaRPr lang="en-US" sz="3200" dirty="0"/>
          </a:p>
        </p:txBody>
      </p:sp>
      <p:sp>
        <p:nvSpPr>
          <p:cNvPr id="14" name="Text 12"/>
          <p:cNvSpPr txBox="1"/>
          <p:nvPr/>
        </p:nvSpPr>
        <p:spPr>
          <a:xfrm>
            <a:off x="9303791" y="2377440"/>
            <a:ext cx="2110664" cy="1508760"/>
          </a:xfrm>
          <a:prstGeom prst="rect">
            <a:avLst/>
          </a:prstGeom>
          <a:noFill/>
          <a:ln/>
        </p:spPr>
        <p:txBody>
          <a:bodyPr wrap="square" lIns="0" tIns="0" rIns="0" bIns="0" rtlCol="0" anchor="t"/>
          <a:lstStyle/>
          <a:p>
            <a:pPr indent="0" marL="0">
              <a:buNone/>
            </a:pPr>
            <a:r>
              <a:rPr lang="en-US" sz="1400" dirty="0">
                <a:solidFill>
                  <a:schemeClr val="tx1"/>
                </a:solidFill>
              </a:rPr>
              <a:t>eye-corner error of the transferred MediaPipe → SMPL-X correspondence</a:t>
            </a:r>
            <a:endParaRPr lang="en-US" sz="1400" dirty="0"/>
          </a:p>
        </p:txBody>
      </p:sp>
      <p:sp>
        <p:nvSpPr>
          <p:cNvPr id="15" name="Text 13"/>
          <p:cNvSpPr txBox="1"/>
          <p:nvPr/>
        </p:nvSpPr>
        <p:spPr>
          <a:xfrm>
            <a:off x="548640" y="4297680"/>
            <a:ext cx="11094415" cy="411480"/>
          </a:xfrm>
          <a:prstGeom prst="rect">
            <a:avLst/>
          </a:prstGeom>
          <a:noFill/>
          <a:ln/>
        </p:spPr>
        <p:txBody>
          <a:bodyPr wrap="square" lIns="0" tIns="0" rIns="0" bIns="0" rtlCol="0" anchor="ctr"/>
          <a:lstStyle/>
          <a:p>
            <a:pPr indent="0" marL="0">
              <a:buNone/>
            </a:pPr>
            <a:r>
              <a:rPr lang="en-US" sz="1800" b="1" dirty="0">
                <a:solidFill>
                  <a:schemeClr val="accent4"/>
                </a:solidFill>
              </a:rPr>
              <a:t>What the gate cannot show</a:t>
            </a:r>
            <a:endParaRPr lang="en-US" sz="1800" dirty="0"/>
          </a:p>
        </p:txBody>
      </p:sp>
      <p:sp>
        <p:nvSpPr>
          <p:cNvPr id="16" name="Text 14"/>
          <p:cNvSpPr txBox="1"/>
          <p:nvPr/>
        </p:nvSpPr>
        <p:spPr>
          <a:xfrm>
            <a:off x="548640" y="4754880"/>
            <a:ext cx="11094415"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Both head rotations come from the same landmarks, and each is taken relative to its clip mean: a constant 45° error would still score about 0°. This is agreement, not absolute accuracy.</a:t>
            </a:r>
            <a:endParaRPr lang="en-US" sz="1400" dirty="0"/>
          </a:p>
          <a:p>
            <a:pPr marL="203200" indent="-203200">
              <a:spcAft>
                <a:spcPts val="600"/>
              </a:spcAft>
              <a:buSzPct val="100000"/>
              <a:buChar char="•"/>
            </a:pPr>
            <a:r>
              <a:rPr lang="en-US" sz="1400" dirty="0">
                <a:solidFill>
                  <a:schemeClr val="tx1"/>
                </a:solidFill>
              </a:rPr>
              <a:t>jawOpen is also computed from the landmarks, and 12 of 20 clips had too little jaw motion to score.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Hands hover about 18 cm in front of the face</a:t>
            </a:r>
            <a:endParaRPr lang="en-US" sz="3600" dirty="0"/>
          </a:p>
        </p:txBody>
      </p:sp>
      <p:pic>
        <p:nvPicPr>
          <p:cNvPr id="3" name="Image 0" descr="Clip 63229 frame 24: in the image the hand touches the chin; in the side view the fitted hand sits about 20 cm in front of the face">    </p:cNvPr>
          <p:cNvPicPr>
            <a:picLocks noChangeAspect="1"/>
          </p:cNvPicPr>
          <p:nvPr/>
        </p:nvPicPr>
        <p:blipFill>
          <a:blip r:embed="rId1"/>
          <a:stretch>
            <a:fillRect/>
          </a:stretch>
        </p:blipFill>
        <p:spPr>
          <a:xfrm>
            <a:off x="548640" y="1188720"/>
            <a:ext cx="11094415" cy="2516942"/>
          </a:xfrm>
          <a:prstGeom prst="rect">
            <a:avLst/>
          </a:prstGeom>
        </p:spPr>
      </p:pic>
      <p:sp>
        <p:nvSpPr>
          <p:cNvPr id="4" name="Text 1"/>
          <p:cNvSpPr txBox="1"/>
          <p:nvPr/>
        </p:nvSpPr>
        <p:spPr>
          <a:xfrm>
            <a:off x="548640" y="3842822"/>
            <a:ext cx="3017520" cy="548640"/>
          </a:xfrm>
          <a:prstGeom prst="rect">
            <a:avLst/>
          </a:prstGeom>
          <a:noFill/>
          <a:ln/>
        </p:spPr>
        <p:txBody>
          <a:bodyPr wrap="square" lIns="0" tIns="0" rIns="0" bIns="0" rtlCol="0" anchor="b"/>
          <a:lstStyle/>
          <a:p>
            <a:pPr indent="0" marL="0">
              <a:buNone/>
            </a:pPr>
            <a:r>
              <a:rPr lang="en-US" sz="3200" b="1" dirty="0">
                <a:solidFill>
                  <a:schemeClr val="accent4"/>
                </a:solidFill>
              </a:rPr>
              <a:t>18 cm</a:t>
            </a:r>
            <a:endParaRPr lang="en-US" sz="3200" dirty="0"/>
          </a:p>
        </p:txBody>
      </p:sp>
      <p:sp>
        <p:nvSpPr>
          <p:cNvPr id="5" name="Text 2"/>
          <p:cNvSpPr txBox="1"/>
          <p:nvPr/>
        </p:nvSpPr>
        <p:spPr>
          <a:xfrm>
            <a:off x="548640" y="4428038"/>
            <a:ext cx="3017520" cy="548640"/>
          </a:xfrm>
          <a:prstGeom prst="rect">
            <a:avLst/>
          </a:prstGeom>
          <a:noFill/>
          <a:ln/>
        </p:spPr>
        <p:txBody>
          <a:bodyPr wrap="square" lIns="0" tIns="0" rIns="0" bIns="0" rtlCol="0" anchor="t"/>
          <a:lstStyle/>
          <a:p>
            <a:pPr indent="0" marL="0">
              <a:buNone/>
            </a:pPr>
            <a:r>
              <a:rPr lang="en-US" sz="1300" dirty="0">
                <a:solidFill>
                  <a:schemeClr val="tx1"/>
                </a:solidFill>
              </a:rPr>
              <a:t>median front-to-back gap between hand and head when the hand is at the face</a:t>
            </a:r>
            <a:endParaRPr lang="en-US" sz="1300" dirty="0"/>
          </a:p>
        </p:txBody>
      </p:sp>
      <p:sp>
        <p:nvSpPr>
          <p:cNvPr id="6" name="Text 3"/>
          <p:cNvSpPr txBox="1"/>
          <p:nvPr/>
        </p:nvSpPr>
        <p:spPr>
          <a:xfrm>
            <a:off x="548640" y="5031542"/>
            <a:ext cx="3017520" cy="548640"/>
          </a:xfrm>
          <a:prstGeom prst="rect">
            <a:avLst/>
          </a:prstGeom>
          <a:noFill/>
          <a:ln/>
        </p:spPr>
        <p:txBody>
          <a:bodyPr wrap="square" lIns="0" tIns="0" rIns="0" bIns="0" rtlCol="0" anchor="b"/>
          <a:lstStyle/>
          <a:p>
            <a:pPr indent="0" marL="0">
              <a:buNone/>
            </a:pPr>
            <a:r>
              <a:rPr lang="en-US" sz="3200" b="1" dirty="0">
                <a:solidFill>
                  <a:schemeClr val="accent4"/>
                </a:solidFill>
              </a:rPr>
              <a:t>0 frames</a:t>
            </a:r>
            <a:endParaRPr lang="en-US" sz="3200" dirty="0"/>
          </a:p>
        </p:txBody>
      </p:sp>
      <p:sp>
        <p:nvSpPr>
          <p:cNvPr id="7" name="Text 4"/>
          <p:cNvSpPr txBox="1"/>
          <p:nvPr/>
        </p:nvSpPr>
        <p:spPr>
          <a:xfrm>
            <a:off x="548640" y="5616758"/>
            <a:ext cx="3017520" cy="548640"/>
          </a:xfrm>
          <a:prstGeom prst="rect">
            <a:avLst/>
          </a:prstGeom>
          <a:noFill/>
          <a:ln/>
        </p:spPr>
        <p:txBody>
          <a:bodyPr wrap="square" lIns="0" tIns="0" rIns="0" bIns="0" rtlCol="0" anchor="t"/>
          <a:lstStyle/>
          <a:p>
            <a:pPr indent="0" marL="0">
              <a:buNone/>
            </a:pPr>
            <a:r>
              <a:rPr lang="en-US" sz="1300" dirty="0">
                <a:solidFill>
                  <a:schemeClr val="tx1"/>
                </a:solidFill>
              </a:rPr>
              <a:t>where a hand touched the head, across all 20 clips</a:t>
            </a:r>
            <a:endParaRPr lang="en-US" sz="1300" dirty="0"/>
          </a:p>
        </p:txBody>
      </p:sp>
      <p:sp>
        <p:nvSpPr>
          <p:cNvPr id="8" name="why-hover-card"/>
          <p:cNvSpPr/>
          <p:nvPr/>
        </p:nvSpPr>
        <p:spPr>
          <a:xfrm>
            <a:off x="3931920" y="3842822"/>
            <a:ext cx="7711135" cy="2393386"/>
          </a:xfrm>
          <a:prstGeom prst="rect">
            <a:avLst/>
          </a:prstGeom>
          <a:solidFill>
            <a:schemeClr val="bg2"/>
          </a:solidFill>
          <a:ln/>
        </p:spPr>
      </p:sp>
      <p:sp>
        <p:nvSpPr>
          <p:cNvPr id="9" name="Text 6"/>
          <p:cNvSpPr txBox="1"/>
          <p:nvPr/>
        </p:nvSpPr>
        <p:spPr>
          <a:xfrm>
            <a:off x="4206240" y="3952550"/>
            <a:ext cx="7162495" cy="365760"/>
          </a:xfrm>
          <a:prstGeom prst="rect">
            <a:avLst/>
          </a:prstGeom>
          <a:noFill/>
          <a:ln/>
        </p:spPr>
        <p:txBody>
          <a:bodyPr wrap="square" lIns="0" tIns="0" rIns="0" bIns="0" rtlCol="0" anchor="ctr"/>
          <a:lstStyle/>
          <a:p>
            <a:pPr indent="0" marL="0">
              <a:buNone/>
            </a:pPr>
            <a:r>
              <a:rPr lang="en-US" sz="1700" b="1" dirty="0">
                <a:solidFill>
                  <a:schemeClr val="tx2"/>
                </a:solidFill>
              </a:rPr>
              <a:t>Why the hand hovers</a:t>
            </a:r>
            <a:endParaRPr lang="en-US" sz="1700" dirty="0"/>
          </a:p>
        </p:txBody>
      </p:sp>
      <p:sp>
        <p:nvSpPr>
          <p:cNvPr id="10" name="Text 7"/>
          <p:cNvSpPr txBox="1"/>
          <p:nvPr/>
        </p:nvSpPr>
        <p:spPr>
          <a:xfrm>
            <a:off x="4206240" y="4318310"/>
            <a:ext cx="7162495" cy="12801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One camera cannot see depth, so MediaPipe guesses how far each point is from the camera.</a:t>
            </a:r>
            <a:endParaRPr lang="en-US" sz="1400" dirty="0"/>
          </a:p>
          <a:p>
            <a:pPr marL="203200" indent="-203200">
              <a:spcAft>
                <a:spcPts val="500"/>
              </a:spcAft>
              <a:buSzPct val="100000"/>
              <a:buChar char="•"/>
            </a:pPr>
            <a:r>
              <a:rPr lang="en-US" sz="1400" dirty="0">
                <a:solidFill>
                  <a:schemeClr val="tx1"/>
                </a:solidFill>
              </a:rPr>
              <a:t>It guesses the body, each hand and the face separately. We join them by setting each hand's wrist on the body's wrist, so a wrong wrist depth moves the whole hand.</a:t>
            </a:r>
            <a:endParaRPr lang="en-US" sz="1400" dirty="0"/>
          </a:p>
          <a:p>
            <a:pPr marL="203200" indent="-203200">
              <a:spcAft>
                <a:spcPts val="500"/>
              </a:spcAft>
              <a:buSzPct val="100000"/>
              <a:buChar char="•"/>
            </a:pPr>
            <a:r>
              <a:rPr lang="en-US" sz="1400" dirty="0">
                <a:solidFill>
                  <a:schemeClr val="tx1"/>
                </a:solidFill>
              </a:rPr>
              <a:t>The gap is already in MediaPipe's own output before our fitting. Some of it may be real, with hands held in front of the face; we can't yet tell how much.</a:t>
            </a:r>
            <a:endParaRPr lang="en-US" sz="1400" dirty="0"/>
          </a:p>
        </p:txBody>
      </p:sp>
      <p:sp>
        <p:nvSpPr>
          <p:cNvPr id="11" name="Text 8"/>
          <p:cNvSpPr txBox="1"/>
          <p:nvPr/>
        </p:nvSpPr>
        <p:spPr>
          <a:xfrm>
            <a:off x="4206240" y="5614416"/>
            <a:ext cx="7162495" cy="548640"/>
          </a:xfrm>
          <a:prstGeom prst="rect">
            <a:avLst/>
          </a:prstGeom>
          <a:noFill/>
          <a:ln/>
        </p:spPr>
        <p:txBody>
          <a:bodyPr wrap="square" lIns="0" tIns="0" rIns="0" bIns="0" rtlCol="0" anchor="t"/>
          <a:lstStyle/>
          <a:p>
            <a:pPr indent="0" marL="0">
              <a:buNone/>
            </a:pPr>
            <a:r>
              <a:rPr lang="en-US" sz="1400" b="1" dirty="0">
                <a:solidFill>
                  <a:schemeClr val="accent1"/>
                </a:solidFill>
              </a:rPr>
              <a:t>I'm looking for ways to bypass it: </a:t>
            </a:r>
            <a:pPr indent="0" marL="0">
              <a:buNone/>
            </a:pPr>
            <a:r>
              <a:rPr lang="en-US" sz="1400" dirty="0">
                <a:solidFill>
                  <a:schemeClr val="tx1"/>
                </a:solidFill>
              </a:rPr>
              <a:t>measuring hand-to-face distance in the 2-D image, correcting wrist depth from the image, and testing on clips where we know the hand touches.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Depth correction is not yet trustworthy</a:t>
            </a:r>
            <a:endParaRPr lang="en-US" sz="3600" dirty="0"/>
          </a:p>
        </p:txBody>
      </p:sp>
      <p:pic>
        <p:nvPicPr>
          <p:cNvPr id="3" name="Image 0" descr="Clip 63229 frame 25: original 3-D hand 20 cm from chin, depth-corrected wrist 3.7 cm from the nose">    </p:cNvPr>
          <p:cNvPicPr>
            <a:picLocks noChangeAspect="1"/>
          </p:cNvPicPr>
          <p:nvPr/>
        </p:nvPicPr>
        <p:blipFill>
          <a:blip r:embed="rId1"/>
          <a:stretch>
            <a:fillRect/>
          </a:stretch>
        </p:blipFill>
        <p:spPr>
          <a:xfrm>
            <a:off x="548640" y="1234440"/>
            <a:ext cx="11094415" cy="2420153"/>
          </a:xfrm>
          <a:prstGeom prst="rect">
            <a:avLst/>
          </a:prstGeom>
        </p:spPr>
      </p:pic>
      <p:sp>
        <p:nvSpPr>
          <p:cNvPr id="4" name="corr-stat-1"/>
          <p:cNvSpPr/>
          <p:nvPr/>
        </p:nvSpPr>
        <p:spPr>
          <a:xfrm>
            <a:off x="548640" y="3840480"/>
            <a:ext cx="3515258" cy="1691640"/>
          </a:xfrm>
          <a:prstGeom prst="rect">
            <a:avLst/>
          </a:prstGeom>
          <a:solidFill>
            <a:schemeClr val="bg2"/>
          </a:solidFill>
          <a:ln/>
        </p:spPr>
      </p:sp>
      <p:sp>
        <p:nvSpPr>
          <p:cNvPr id="5" name="Text 2"/>
          <p:cNvSpPr txBox="1"/>
          <p:nvPr/>
        </p:nvSpPr>
        <p:spPr>
          <a:xfrm>
            <a:off x="822960" y="3977640"/>
            <a:ext cx="2966618" cy="640080"/>
          </a:xfrm>
          <a:prstGeom prst="rect">
            <a:avLst/>
          </a:prstGeom>
          <a:noFill/>
          <a:ln/>
        </p:spPr>
        <p:txBody>
          <a:bodyPr wrap="square" lIns="0" tIns="0" rIns="0" bIns="0" rtlCol="0" anchor="b"/>
          <a:lstStyle/>
          <a:p>
            <a:pPr indent="0" marL="0">
              <a:buNone/>
            </a:pPr>
            <a:r>
              <a:rPr lang="en-US" sz="3200" b="1" dirty="0">
                <a:solidFill>
                  <a:schemeClr val="accent4"/>
                </a:solidFill>
              </a:rPr>
              <a:t>25%</a:t>
            </a:r>
            <a:endParaRPr lang="en-US" sz="3200" dirty="0"/>
          </a:p>
        </p:txBody>
      </p:sp>
      <p:sp>
        <p:nvSpPr>
          <p:cNvPr id="6" name="Text 3"/>
          <p:cNvSpPr txBox="1"/>
          <p:nvPr/>
        </p:nvSpPr>
        <p:spPr>
          <a:xfrm>
            <a:off x="822960" y="4681728"/>
            <a:ext cx="2966618" cy="777240"/>
          </a:xfrm>
          <a:prstGeom prst="rect">
            <a:avLst/>
          </a:prstGeom>
          <a:noFill/>
          <a:ln/>
        </p:spPr>
        <p:txBody>
          <a:bodyPr wrap="square" lIns="0" tIns="0" rIns="0" bIns="0" rtlCol="0" anchor="t"/>
          <a:lstStyle/>
          <a:p>
            <a:pPr indent="0" marL="0">
              <a:buNone/>
            </a:pPr>
            <a:r>
              <a:rPr lang="en-US" sz="1300" dirty="0">
                <a:solidFill>
                  <a:schemeClr val="tx1"/>
                </a:solidFill>
              </a:rPr>
              <a:t>of corrected pilot hand-frames reach their wrist target within 3 cm (131 of 524)</a:t>
            </a:r>
            <a:endParaRPr lang="en-US" sz="1300" dirty="0"/>
          </a:p>
        </p:txBody>
      </p:sp>
      <p:sp>
        <p:nvSpPr>
          <p:cNvPr id="7" name="corr-stat-2"/>
          <p:cNvSpPr/>
          <p:nvPr/>
        </p:nvSpPr>
        <p:spPr>
          <a:xfrm>
            <a:off x="4338218" y="3840480"/>
            <a:ext cx="3515258" cy="1691640"/>
          </a:xfrm>
          <a:prstGeom prst="rect">
            <a:avLst/>
          </a:prstGeom>
          <a:solidFill>
            <a:schemeClr val="bg2"/>
          </a:solidFill>
          <a:ln/>
        </p:spPr>
      </p:sp>
      <p:sp>
        <p:nvSpPr>
          <p:cNvPr id="8" name="Text 5"/>
          <p:cNvSpPr txBox="1"/>
          <p:nvPr/>
        </p:nvSpPr>
        <p:spPr>
          <a:xfrm>
            <a:off x="4612538" y="3977640"/>
            <a:ext cx="2966618" cy="640080"/>
          </a:xfrm>
          <a:prstGeom prst="rect">
            <a:avLst/>
          </a:prstGeom>
          <a:noFill/>
          <a:ln/>
        </p:spPr>
        <p:txBody>
          <a:bodyPr wrap="square" lIns="0" tIns="0" rIns="0" bIns="0" rtlCol="0" anchor="b"/>
          <a:lstStyle/>
          <a:p>
            <a:pPr indent="0" marL="0">
              <a:buNone/>
            </a:pPr>
            <a:r>
              <a:rPr lang="en-US" sz="3200" b="1" dirty="0">
                <a:solidFill>
                  <a:schemeClr val="accent4"/>
                </a:solidFill>
              </a:rPr>
              <a:t>9 of 9</a:t>
            </a:r>
            <a:endParaRPr lang="en-US" sz="3200" dirty="0"/>
          </a:p>
        </p:txBody>
      </p:sp>
      <p:sp>
        <p:nvSpPr>
          <p:cNvPr id="9" name="Text 6"/>
          <p:cNvSpPr txBox="1"/>
          <p:nvPr/>
        </p:nvSpPr>
        <p:spPr>
          <a:xfrm>
            <a:off x="4612538" y="4681728"/>
            <a:ext cx="2966618" cy="777240"/>
          </a:xfrm>
          <a:prstGeom prst="rect">
            <a:avLst/>
          </a:prstGeom>
          <a:noFill/>
          <a:ln/>
        </p:spPr>
        <p:txBody>
          <a:bodyPr wrap="square" lIns="0" tIns="0" rIns="0" bIns="0" rtlCol="0" anchor="t"/>
          <a:lstStyle/>
          <a:p>
            <a:pPr indent="0" marL="0">
              <a:buNone/>
            </a:pPr>
            <a:r>
              <a:rPr lang="en-US" sz="1300" dirty="0">
                <a:solidFill>
                  <a:schemeClr val="tx1"/>
                </a:solidFill>
              </a:rPr>
              <a:t>pilot contacts occur on wrists that never reached their target</a:t>
            </a:r>
            <a:endParaRPr lang="en-US" sz="1300" dirty="0"/>
          </a:p>
        </p:txBody>
      </p:sp>
      <p:sp>
        <p:nvSpPr>
          <p:cNvPr id="10" name="corr-stat-3"/>
          <p:cNvSpPr/>
          <p:nvPr/>
        </p:nvSpPr>
        <p:spPr>
          <a:xfrm>
            <a:off x="8127797" y="3840480"/>
            <a:ext cx="3515258" cy="1691640"/>
          </a:xfrm>
          <a:prstGeom prst="rect">
            <a:avLst/>
          </a:prstGeom>
          <a:solidFill>
            <a:schemeClr val="bg2"/>
          </a:solidFill>
          <a:ln/>
        </p:spPr>
      </p:sp>
      <p:sp>
        <p:nvSpPr>
          <p:cNvPr id="11" name="Text 8"/>
          <p:cNvSpPr txBox="1"/>
          <p:nvPr/>
        </p:nvSpPr>
        <p:spPr>
          <a:xfrm>
            <a:off x="8402117" y="3977640"/>
            <a:ext cx="2966618" cy="640080"/>
          </a:xfrm>
          <a:prstGeom prst="rect">
            <a:avLst/>
          </a:prstGeom>
          <a:noFill/>
          <a:ln/>
        </p:spPr>
        <p:txBody>
          <a:bodyPr wrap="square" lIns="0" tIns="0" rIns="0" bIns="0" rtlCol="0" anchor="b"/>
          <a:lstStyle/>
          <a:p>
            <a:pPr indent="0" marL="0">
              <a:buNone/>
            </a:pPr>
            <a:r>
              <a:rPr lang="en-US" sz="3200" b="1" dirty="0">
                <a:solidFill>
                  <a:schemeClr val="accent4"/>
                </a:solidFill>
              </a:rPr>
              <a:t>4.5 cm</a:t>
            </a:r>
            <a:endParaRPr lang="en-US" sz="3200" dirty="0"/>
          </a:p>
        </p:txBody>
      </p:sp>
      <p:sp>
        <p:nvSpPr>
          <p:cNvPr id="12" name="Text 9"/>
          <p:cNvSpPr txBox="1"/>
          <p:nvPr/>
        </p:nvSpPr>
        <p:spPr>
          <a:xfrm>
            <a:off x="8402117" y="4681728"/>
            <a:ext cx="2966618" cy="777240"/>
          </a:xfrm>
          <a:prstGeom prst="rect">
            <a:avLst/>
          </a:prstGeom>
          <a:noFill/>
          <a:ln/>
        </p:spPr>
        <p:txBody>
          <a:bodyPr wrap="square" lIns="0" tIns="0" rIns="0" bIns="0" rtlCol="0" anchor="t"/>
          <a:lstStyle/>
          <a:p>
            <a:pPr indent="0" marL="0">
              <a:buNone/>
            </a:pPr>
            <a:r>
              <a:rPr lang="en-US" sz="1300" dirty="0">
                <a:solidFill>
                  <a:schemeClr val="tx1"/>
                </a:solidFill>
              </a:rPr>
              <a:t>depth shift from a 5% error in hand size, more than the 2 cm contact threshold</a:t>
            </a:r>
            <a:endParaRPr lang="en-US" sz="1300" dirty="0"/>
          </a:p>
        </p:txBody>
      </p:sp>
      <p:sp>
        <p:nvSpPr>
          <p:cNvPr id="13" name="Text 10"/>
          <p:cNvSpPr txBox="1"/>
          <p:nvPr/>
        </p:nvSpPr>
        <p:spPr>
          <a:xfrm>
            <a:off x="548640" y="5715000"/>
            <a:ext cx="11094415" cy="365760"/>
          </a:xfrm>
          <a:prstGeom prst="rect">
            <a:avLst/>
          </a:prstGeom>
          <a:noFill/>
          <a:ln/>
        </p:spPr>
        <p:txBody>
          <a:bodyPr wrap="square" lIns="0" tIns="0" rIns="0" bIns="0" rtlCol="0" anchor="ctr"/>
          <a:lstStyle/>
          <a:p>
            <a:pPr indent="0" marL="0">
              <a:buNone/>
            </a:pPr>
            <a:r>
              <a:rPr lang="en-US" sz="1500" b="1" dirty="0">
                <a:solidFill>
                  <a:schemeClr val="tx2"/>
                </a:solidFill>
              </a:rPr>
              <a:t>Decision: </a:t>
            </a:r>
            <a:pPr indent="0" marL="0">
              <a:buNone/>
            </a:pPr>
            <a:r>
              <a:rPr lang="en-US" sz="1500" dirty="0">
                <a:solidFill>
                  <a:schemeClr val="tx1"/>
                </a:solidFill>
              </a:rPr>
              <a:t>correction stays off for production. Contact is "unknown" unless validated, never "no contact".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The face stream is wired in; its benefit is untested</a:t>
            </a:r>
            <a:endParaRPr lang="en-US" sz="3600" dirty="0"/>
          </a:p>
        </p:txBody>
      </p:sp>
      <p:sp>
        <p:nvSpPr>
          <p:cNvPr id="3" name="integration-card"/>
          <p:cNvSpPr/>
          <p:nvPr/>
        </p:nvSpPr>
        <p:spPr>
          <a:xfrm>
            <a:off x="548640" y="1371600"/>
            <a:ext cx="5364328" cy="4526280"/>
          </a:xfrm>
          <a:prstGeom prst="rect">
            <a:avLst/>
          </a:prstGeom>
          <a:solidFill>
            <a:schemeClr val="bg2"/>
          </a:solidFill>
          <a:ln/>
        </p:spPr>
      </p:sp>
      <p:sp>
        <p:nvSpPr>
          <p:cNvPr id="4" name="Text 2"/>
          <p:cNvSpPr txBox="1"/>
          <p:nvPr/>
        </p:nvSpPr>
        <p:spPr>
          <a:xfrm>
            <a:off x="868680" y="1554480"/>
            <a:ext cx="4724248" cy="411480"/>
          </a:xfrm>
          <a:prstGeom prst="rect">
            <a:avLst/>
          </a:prstGeom>
          <a:noFill/>
          <a:ln/>
        </p:spPr>
        <p:txBody>
          <a:bodyPr wrap="square" lIns="0" tIns="0" rIns="0" bIns="0" rtlCol="0" anchor="ctr"/>
          <a:lstStyle/>
          <a:p>
            <a:pPr indent="0" marL="0">
              <a:buNone/>
            </a:pPr>
            <a:r>
              <a:rPr lang="en-US" sz="1900" b="1" dirty="0">
                <a:solidFill>
                  <a:schemeClr val="tx2"/>
                </a:solidFill>
              </a:rPr>
              <a:t>Integration on real caches</a:t>
            </a:r>
            <a:endParaRPr lang="en-US" sz="1900" dirty="0"/>
          </a:p>
        </p:txBody>
      </p:sp>
      <p:sp>
        <p:nvSpPr>
          <p:cNvPr id="5" name="Text 3"/>
          <p:cNvSpPr txBox="1"/>
          <p:nvPr/>
        </p:nvSpPr>
        <p:spPr>
          <a:xfrm>
            <a:off x="868680" y="2103120"/>
            <a:ext cx="2194560" cy="594360"/>
          </a:xfrm>
          <a:prstGeom prst="rect">
            <a:avLst/>
          </a:prstGeom>
          <a:noFill/>
          <a:ln/>
        </p:spPr>
        <p:txBody>
          <a:bodyPr wrap="square" lIns="0" tIns="0" rIns="0" bIns="0" rtlCol="0" anchor="ctr"/>
          <a:lstStyle/>
          <a:p>
            <a:pPr indent="0" marL="0">
              <a:buNone/>
            </a:pPr>
            <a:r>
              <a:rPr lang="en-US" sz="3000" b="1" dirty="0">
                <a:solidFill>
                  <a:schemeClr val="accent2"/>
                </a:solidFill>
              </a:rPr>
              <a:t>1,646</a:t>
            </a:r>
            <a:endParaRPr lang="en-US" sz="3000" dirty="0"/>
          </a:p>
        </p:txBody>
      </p:sp>
      <p:sp>
        <p:nvSpPr>
          <p:cNvPr id="6" name="Text 4"/>
          <p:cNvSpPr txBox="1"/>
          <p:nvPr/>
        </p:nvSpPr>
        <p:spPr>
          <a:xfrm>
            <a:off x="3154680" y="2103120"/>
            <a:ext cx="2438248" cy="594360"/>
          </a:xfrm>
          <a:prstGeom prst="rect">
            <a:avLst/>
          </a:prstGeom>
          <a:noFill/>
          <a:ln/>
        </p:spPr>
        <p:txBody>
          <a:bodyPr wrap="square" lIns="0" tIns="0" rIns="0" bIns="0" rtlCol="0" anchor="ctr"/>
          <a:lstStyle/>
          <a:p>
            <a:pPr indent="0" marL="0">
              <a:buNone/>
            </a:pPr>
            <a:r>
              <a:rPr lang="en-US" sz="1400" dirty="0">
                <a:solidFill>
                  <a:schemeClr val="tx1"/>
                </a:solidFill>
              </a:rPr>
              <a:t>frames over 25 clips, every frame processed</a:t>
            </a:r>
            <a:endParaRPr lang="en-US" sz="1400" dirty="0"/>
          </a:p>
        </p:txBody>
      </p:sp>
      <p:sp>
        <p:nvSpPr>
          <p:cNvPr id="7" name="Text 5"/>
          <p:cNvSpPr txBox="1"/>
          <p:nvPr/>
        </p:nvSpPr>
        <p:spPr>
          <a:xfrm>
            <a:off x="868680" y="2971800"/>
            <a:ext cx="2194560" cy="594360"/>
          </a:xfrm>
          <a:prstGeom prst="rect">
            <a:avLst/>
          </a:prstGeom>
          <a:noFill/>
          <a:ln/>
        </p:spPr>
        <p:txBody>
          <a:bodyPr wrap="square" lIns="0" tIns="0" rIns="0" bIns="0" rtlCol="0" anchor="ctr"/>
          <a:lstStyle/>
          <a:p>
            <a:pPr indent="0" marL="0">
              <a:buNone/>
            </a:pPr>
            <a:r>
              <a:rPr lang="en-US" sz="3000" b="1" dirty="0">
                <a:solidFill>
                  <a:schemeClr val="accent2"/>
                </a:solidFill>
              </a:rPr>
              <a:t>99.94%</a:t>
            </a:r>
            <a:endParaRPr lang="en-US" sz="3000" dirty="0"/>
          </a:p>
        </p:txBody>
      </p:sp>
      <p:sp>
        <p:nvSpPr>
          <p:cNvPr id="8" name="Text 6"/>
          <p:cNvSpPr txBox="1"/>
          <p:nvPr/>
        </p:nvSpPr>
        <p:spPr>
          <a:xfrm>
            <a:off x="3154680" y="2971800"/>
            <a:ext cx="2438248" cy="594360"/>
          </a:xfrm>
          <a:prstGeom prst="rect">
            <a:avLst/>
          </a:prstGeom>
          <a:noFill/>
          <a:ln/>
        </p:spPr>
        <p:txBody>
          <a:bodyPr wrap="square" lIns="0" tIns="0" rIns="0" bIns="0" rtlCol="0" anchor="ctr"/>
          <a:lstStyle/>
          <a:p>
            <a:pPr indent="0" marL="0">
              <a:buNone/>
            </a:pPr>
            <a:r>
              <a:rPr lang="en-US" sz="1400" dirty="0">
                <a:solidFill>
                  <a:schemeClr val="tx1"/>
                </a:solidFill>
              </a:rPr>
              <a:t>of observed face frames attached to the fitted head</a:t>
            </a:r>
            <a:endParaRPr lang="en-US" sz="1400" dirty="0"/>
          </a:p>
        </p:txBody>
      </p:sp>
      <p:sp>
        <p:nvSpPr>
          <p:cNvPr id="9" name="Text 7"/>
          <p:cNvSpPr txBox="1"/>
          <p:nvPr/>
        </p:nvSpPr>
        <p:spPr>
          <a:xfrm>
            <a:off x="868680" y="3840480"/>
            <a:ext cx="2194560" cy="594360"/>
          </a:xfrm>
          <a:prstGeom prst="rect">
            <a:avLst/>
          </a:prstGeom>
          <a:noFill/>
          <a:ln/>
        </p:spPr>
        <p:txBody>
          <a:bodyPr wrap="square" lIns="0" tIns="0" rIns="0" bIns="0" rtlCol="0" anchor="ctr"/>
          <a:lstStyle/>
          <a:p>
            <a:pPr indent="0" marL="0">
              <a:buNone/>
            </a:pPr>
            <a:r>
              <a:rPr lang="en-US" sz="3000" b="1" dirty="0">
                <a:solidFill>
                  <a:schemeClr val="accent2"/>
                </a:solidFill>
              </a:rPr>
              <a:t>10⁻¹⁶ m</a:t>
            </a:r>
            <a:endParaRPr lang="en-US" sz="3000" dirty="0"/>
          </a:p>
        </p:txBody>
      </p:sp>
      <p:sp>
        <p:nvSpPr>
          <p:cNvPr id="10" name="Text 8"/>
          <p:cNvSpPr txBox="1"/>
          <p:nvPr/>
        </p:nvSpPr>
        <p:spPr>
          <a:xfrm>
            <a:off x="3154680" y="3840480"/>
            <a:ext cx="2438248" cy="594360"/>
          </a:xfrm>
          <a:prstGeom prst="rect">
            <a:avLst/>
          </a:prstGeom>
          <a:noFill/>
          <a:ln/>
        </p:spPr>
        <p:txBody>
          <a:bodyPr wrap="square" lIns="0" tIns="0" rIns="0" bIns="0" rtlCol="0" anchor="ctr"/>
          <a:lstStyle/>
          <a:p>
            <a:pPr indent="0" marL="0">
              <a:buNone/>
            </a:pPr>
            <a:r>
              <a:rPr lang="en-US" sz="1400" dirty="0">
                <a:solidFill>
                  <a:schemeClr val="tx1"/>
                </a:solidFill>
              </a:rPr>
              <a:t>round-trip error of head-local face points (reversible)</a:t>
            </a:r>
            <a:endParaRPr lang="en-US" sz="1400" dirty="0"/>
          </a:p>
        </p:txBody>
      </p:sp>
      <p:sp>
        <p:nvSpPr>
          <p:cNvPr id="11" name="Text 9"/>
          <p:cNvSpPr txBox="1"/>
          <p:nvPr/>
        </p:nvSpPr>
        <p:spPr>
          <a:xfrm>
            <a:off x="868680" y="4800600"/>
            <a:ext cx="4724248" cy="868680"/>
          </a:xfrm>
          <a:prstGeom prst="rect">
            <a:avLst/>
          </a:prstGeom>
          <a:noFill/>
          <a:ln/>
        </p:spPr>
        <p:txBody>
          <a:bodyPr wrap="square" lIns="0" tIns="0" rIns="0" bIns="0" rtlCol="0" anchor="t"/>
          <a:lstStyle/>
          <a:p>
            <a:pPr indent="0" marL="0">
              <a:buNone/>
            </a:pPr>
            <a:r>
              <a:rPr lang="en-US" sz="1400" i="1" dirty="0">
                <a:solidFill>
                  <a:schemeClr val="accent3"/>
                </a:solidFill>
              </a:rPr>
              <a:t>Classifier trains finitely with and without the face; no WLASL labels were available, so no accuracy was measured.</a:t>
            </a:r>
            <a:endParaRPr lang="en-US" sz="1400" dirty="0"/>
          </a:p>
        </p:txBody>
      </p:sp>
      <p:sp>
        <p:nvSpPr>
          <p:cNvPr id="12" name="audit-card"/>
          <p:cNvSpPr/>
          <p:nvPr/>
        </p:nvSpPr>
        <p:spPr>
          <a:xfrm>
            <a:off x="6278728" y="1371600"/>
            <a:ext cx="5364328" cy="4526280"/>
          </a:xfrm>
          <a:prstGeom prst="rect">
            <a:avLst/>
          </a:prstGeom>
          <a:solidFill>
            <a:schemeClr val="bg2"/>
          </a:solidFill>
          <a:ln/>
        </p:spPr>
      </p:sp>
      <p:sp>
        <p:nvSpPr>
          <p:cNvPr id="13" name="Text 11"/>
          <p:cNvSpPr txBox="1"/>
          <p:nvPr/>
        </p:nvSpPr>
        <p:spPr>
          <a:xfrm>
            <a:off x="6598768" y="1554480"/>
            <a:ext cx="4724248" cy="411480"/>
          </a:xfrm>
          <a:prstGeom prst="rect">
            <a:avLst/>
          </a:prstGeom>
          <a:noFill/>
          <a:ln/>
        </p:spPr>
        <p:txBody>
          <a:bodyPr wrap="square" lIns="0" tIns="0" rIns="0" bIns="0" rtlCol="0" anchor="ctr"/>
          <a:lstStyle/>
          <a:p>
            <a:pPr indent="0" marL="0">
              <a:buNone/>
            </a:pPr>
            <a:r>
              <a:rPr lang="en-US" sz="1900" b="1" dirty="0">
                <a:solidFill>
                  <a:schemeClr val="tx2"/>
                </a:solidFill>
              </a:rPr>
              <a:t>Audit verdict</a:t>
            </a:r>
            <a:endParaRPr lang="en-US" sz="1900" dirty="0"/>
          </a:p>
        </p:txBody>
      </p:sp>
      <p:sp>
        <p:nvSpPr>
          <p:cNvPr id="14" name="verdict-Go"/>
          <p:cNvSpPr/>
          <p:nvPr/>
        </p:nvSpPr>
        <p:spPr>
          <a:xfrm>
            <a:off x="6598768" y="2194560"/>
            <a:ext cx="1005840" cy="384048"/>
          </a:xfrm>
          <a:prstGeom prst="roundRect">
            <a:avLst>
              <a:gd name="adj" fmla="val 19048"/>
            </a:avLst>
          </a:prstGeom>
          <a:solidFill>
            <a:schemeClr val="accent2"/>
          </a:solidFill>
          <a:ln/>
        </p:spPr>
      </p:sp>
      <p:sp>
        <p:nvSpPr>
          <p:cNvPr id="15" name="Text 13"/>
          <p:cNvSpPr txBox="1"/>
          <p:nvPr/>
        </p:nvSpPr>
        <p:spPr>
          <a:xfrm>
            <a:off x="6598768" y="2194560"/>
            <a:ext cx="1005840" cy="384048"/>
          </a:xfrm>
          <a:prstGeom prst="rect">
            <a:avLst/>
          </a:prstGeom>
          <a:noFill/>
          <a:ln/>
        </p:spPr>
        <p:txBody>
          <a:bodyPr wrap="square" lIns="0" tIns="0" rIns="0" bIns="0" rtlCol="0" anchor="ctr"/>
          <a:lstStyle/>
          <a:p>
            <a:pPr algn="ctr" indent="0" marL="0">
              <a:buNone/>
            </a:pPr>
            <a:r>
              <a:rPr lang="en-US" sz="1400" b="1" dirty="0">
                <a:solidFill>
                  <a:schemeClr val="bg1"/>
                </a:solidFill>
              </a:rPr>
              <a:t>Go</a:t>
            </a:r>
            <a:endParaRPr lang="en-US" sz="1400" dirty="0"/>
          </a:p>
        </p:txBody>
      </p:sp>
      <p:sp>
        <p:nvSpPr>
          <p:cNvPr id="16" name="Text 14"/>
          <p:cNvSpPr txBox="1"/>
          <p:nvPr/>
        </p:nvSpPr>
        <p:spPr>
          <a:xfrm>
            <a:off x="7787488" y="2148840"/>
            <a:ext cx="3535528" cy="1005840"/>
          </a:xfrm>
          <a:prstGeom prst="rect">
            <a:avLst/>
          </a:prstGeom>
          <a:noFill/>
          <a:ln/>
        </p:spPr>
        <p:txBody>
          <a:bodyPr wrap="square" lIns="0" tIns="0" rIns="0" bIns="0" rtlCol="0" anchor="t"/>
          <a:lstStyle/>
          <a:p>
            <a:pPr indent="0" marL="0">
              <a:buNone/>
            </a:pPr>
            <a:r>
              <a:rPr lang="en-US" sz="1400" dirty="0">
                <a:solidFill>
                  <a:schemeClr val="tx1"/>
                </a:solidFill>
              </a:rPr>
              <a:t>Observation-preserving face stream: 478 points, 52 blendshapes, head motion, with masks and provenance</a:t>
            </a:r>
            <a:endParaRPr lang="en-US" sz="1400" dirty="0"/>
          </a:p>
        </p:txBody>
      </p:sp>
      <p:sp>
        <p:nvSpPr>
          <p:cNvPr id="17" name="verdict-Revise"/>
          <p:cNvSpPr/>
          <p:nvPr/>
        </p:nvSpPr>
        <p:spPr>
          <a:xfrm>
            <a:off x="6598768" y="3383280"/>
            <a:ext cx="1005840" cy="384048"/>
          </a:xfrm>
          <a:prstGeom prst="roundRect">
            <a:avLst>
              <a:gd name="adj" fmla="val 19048"/>
            </a:avLst>
          </a:prstGeom>
          <a:solidFill>
            <a:schemeClr val="accent4"/>
          </a:solidFill>
          <a:ln/>
        </p:spPr>
      </p:sp>
      <p:sp>
        <p:nvSpPr>
          <p:cNvPr id="18" name="Text 16"/>
          <p:cNvSpPr txBox="1"/>
          <p:nvPr/>
        </p:nvSpPr>
        <p:spPr>
          <a:xfrm>
            <a:off x="6598768" y="3383280"/>
            <a:ext cx="1005840" cy="384048"/>
          </a:xfrm>
          <a:prstGeom prst="rect">
            <a:avLst/>
          </a:prstGeom>
          <a:noFill/>
          <a:ln/>
        </p:spPr>
        <p:txBody>
          <a:bodyPr wrap="square" lIns="0" tIns="0" rIns="0" bIns="0" rtlCol="0" anchor="ctr"/>
          <a:lstStyle/>
          <a:p>
            <a:pPr algn="ctr" indent="0" marL="0">
              <a:buNone/>
            </a:pPr>
            <a:r>
              <a:rPr lang="en-US" sz="1400" b="1" dirty="0">
                <a:solidFill>
                  <a:schemeClr val="bg1"/>
                </a:solidFill>
              </a:rPr>
              <a:t>Revise</a:t>
            </a:r>
            <a:endParaRPr lang="en-US" sz="1400" dirty="0"/>
          </a:p>
        </p:txBody>
      </p:sp>
      <p:sp>
        <p:nvSpPr>
          <p:cNvPr id="19" name="Text 17"/>
          <p:cNvSpPr txBox="1"/>
          <p:nvPr/>
        </p:nvSpPr>
        <p:spPr>
          <a:xfrm>
            <a:off x="7787488" y="3337560"/>
            <a:ext cx="3535528" cy="1005840"/>
          </a:xfrm>
          <a:prstGeom prst="rect">
            <a:avLst/>
          </a:prstGeom>
          <a:noFill/>
          <a:ln/>
        </p:spPr>
        <p:txBody>
          <a:bodyPr wrap="square" lIns="0" tIns="0" rIns="0" bIns="0" rtlCol="0" anchor="t"/>
          <a:lstStyle/>
          <a:p>
            <a:pPr indent="0" marL="0">
              <a:buNone/>
            </a:pPr>
            <a:r>
              <a:rPr lang="en-US" sz="1400" dirty="0">
                <a:solidFill>
                  <a:schemeClr val="tx1"/>
                </a:solidFill>
              </a:rPr>
              <a:t>Phase A as a source of contact labels: invalid heads still produced geometry (fixed with per-stream masks)</a:t>
            </a:r>
            <a:endParaRPr lang="en-US" sz="1400" dirty="0"/>
          </a:p>
        </p:txBody>
      </p:sp>
      <p:sp>
        <p:nvSpPr>
          <p:cNvPr id="20" name="verdict-Test"/>
          <p:cNvSpPr/>
          <p:nvPr/>
        </p:nvSpPr>
        <p:spPr>
          <a:xfrm>
            <a:off x="6598768" y="4572000"/>
            <a:ext cx="1005840" cy="384048"/>
          </a:xfrm>
          <a:prstGeom prst="roundRect">
            <a:avLst>
              <a:gd name="adj" fmla="val 19048"/>
            </a:avLst>
          </a:prstGeom>
          <a:solidFill>
            <a:schemeClr val="accent1"/>
          </a:solidFill>
          <a:ln/>
        </p:spPr>
      </p:sp>
      <p:sp>
        <p:nvSpPr>
          <p:cNvPr id="21" name="Text 19"/>
          <p:cNvSpPr txBox="1"/>
          <p:nvPr/>
        </p:nvSpPr>
        <p:spPr>
          <a:xfrm>
            <a:off x="6598768" y="4572000"/>
            <a:ext cx="1005840" cy="384048"/>
          </a:xfrm>
          <a:prstGeom prst="rect">
            <a:avLst/>
          </a:prstGeom>
          <a:noFill/>
          <a:ln/>
        </p:spPr>
        <p:txBody>
          <a:bodyPr wrap="square" lIns="0" tIns="0" rIns="0" bIns="0" rtlCol="0" anchor="ctr"/>
          <a:lstStyle/>
          <a:p>
            <a:pPr algn="ctr" indent="0" marL="0">
              <a:buNone/>
            </a:pPr>
            <a:r>
              <a:rPr lang="en-US" sz="1400" b="1" dirty="0">
                <a:solidFill>
                  <a:schemeClr val="bg1"/>
                </a:solidFill>
              </a:rPr>
              <a:t>Test</a:t>
            </a:r>
            <a:endParaRPr lang="en-US" sz="1400" dirty="0"/>
          </a:p>
        </p:txBody>
      </p:sp>
      <p:sp>
        <p:nvSpPr>
          <p:cNvPr id="22" name="Text 20"/>
          <p:cNvSpPr txBox="1"/>
          <p:nvPr/>
        </p:nvSpPr>
        <p:spPr>
          <a:xfrm>
            <a:off x="7787488" y="4526280"/>
            <a:ext cx="3535528" cy="1005840"/>
          </a:xfrm>
          <a:prstGeom prst="rect">
            <a:avLst/>
          </a:prstGeom>
          <a:noFill/>
          <a:ln/>
        </p:spPr>
        <p:txBody>
          <a:bodyPr wrap="square" lIns="0" tIns="0" rIns="0" bIns="0" rtlCol="0" anchor="t"/>
          <a:lstStyle/>
          <a:p>
            <a:pPr indent="0" marL="0">
              <a:buNone/>
            </a:pPr>
            <a:r>
              <a:rPr lang="en-US" sz="1400" dirty="0">
                <a:solidFill>
                  <a:schemeClr val="tx1"/>
                </a:solidFill>
              </a:rPr>
              <a:t>Whether faces help recognition: staged ablation on signer-disjoint splits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2"/>
                </a:solidFill>
              </a:rPr>
              <a:t>Open questions</a:t>
            </a:r>
            <a:endParaRPr lang="en-US" sz="3600" dirty="0"/>
          </a:p>
        </p:txBody>
      </p:sp>
      <p:sp>
        <p:nvSpPr>
          <p:cNvPr id="3" name="open-1"/>
          <p:cNvSpPr/>
          <p:nvPr/>
        </p:nvSpPr>
        <p:spPr>
          <a:xfrm>
            <a:off x="548640" y="1371600"/>
            <a:ext cx="5364328" cy="2103120"/>
          </a:xfrm>
          <a:prstGeom prst="rect">
            <a:avLst/>
          </a:prstGeom>
          <a:solidFill>
            <a:schemeClr val="bg2"/>
          </a:solidFill>
          <a:ln/>
        </p:spPr>
      </p:sp>
      <p:sp>
        <p:nvSpPr>
          <p:cNvPr id="4" name="Text 2"/>
          <p:cNvSpPr txBox="1"/>
          <p:nvPr/>
        </p:nvSpPr>
        <p:spPr>
          <a:xfrm>
            <a:off x="822960" y="1600200"/>
            <a:ext cx="914400" cy="45720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5" name="Text 3"/>
          <p:cNvSpPr txBox="1"/>
          <p:nvPr/>
        </p:nvSpPr>
        <p:spPr>
          <a:xfrm>
            <a:off x="1783080" y="1600200"/>
            <a:ext cx="3855568" cy="960120"/>
          </a:xfrm>
          <a:prstGeom prst="rect">
            <a:avLst/>
          </a:prstGeom>
          <a:noFill/>
          <a:ln/>
        </p:spPr>
        <p:txBody>
          <a:bodyPr wrap="square" lIns="0" tIns="0" rIns="0" bIns="0" rtlCol="0" anchor="t"/>
          <a:lstStyle/>
          <a:p>
            <a:pPr indent="0" marL="0">
              <a:buNone/>
            </a:pPr>
            <a:r>
              <a:rPr lang="en-US" sz="1600" b="1" dirty="0">
                <a:solidFill>
                  <a:schemeClr val="tx2"/>
                </a:solidFill>
              </a:rPr>
              <a:t>Is the 18 cm hand-to-face depth gap real distance or pose-world depth error?</a:t>
            </a:r>
            <a:endParaRPr lang="en-US" sz="1600" dirty="0"/>
          </a:p>
        </p:txBody>
      </p:sp>
      <p:sp>
        <p:nvSpPr>
          <p:cNvPr id="6" name="Text 4"/>
          <p:cNvSpPr txBox="1"/>
          <p:nvPr/>
        </p:nvSpPr>
        <p:spPr>
          <a:xfrm>
            <a:off x="1783080" y="2606040"/>
            <a:ext cx="3855568" cy="731520"/>
          </a:xfrm>
          <a:prstGeom prst="rect">
            <a:avLst/>
          </a:prstGeom>
          <a:noFill/>
          <a:ln/>
        </p:spPr>
        <p:txBody>
          <a:bodyPr wrap="square" lIns="0" tIns="0" rIns="0" bIns="0" rtlCol="0" anchor="t"/>
          <a:lstStyle/>
          <a:p>
            <a:pPr indent="0" marL="0">
              <a:buNone/>
            </a:pPr>
            <a:r>
              <a:rPr lang="en-US" sz="1400" dirty="0">
                <a:solidFill>
                  <a:schemeClr val="tx1"/>
                </a:solidFill>
              </a:rPr>
              <a:t>Blocks contact measurement and the location/contact invariants.</a:t>
            </a:r>
            <a:endParaRPr lang="en-US" sz="1400" dirty="0"/>
          </a:p>
        </p:txBody>
      </p:sp>
      <p:sp>
        <p:nvSpPr>
          <p:cNvPr id="7" name="open-2"/>
          <p:cNvSpPr/>
          <p:nvPr/>
        </p:nvSpPr>
        <p:spPr>
          <a:xfrm>
            <a:off x="6278728" y="1371600"/>
            <a:ext cx="5364328" cy="2103120"/>
          </a:xfrm>
          <a:prstGeom prst="rect">
            <a:avLst/>
          </a:prstGeom>
          <a:solidFill>
            <a:schemeClr val="bg2"/>
          </a:solidFill>
          <a:ln/>
        </p:spPr>
      </p:sp>
      <p:sp>
        <p:nvSpPr>
          <p:cNvPr id="8" name="Text 6"/>
          <p:cNvSpPr txBox="1"/>
          <p:nvPr/>
        </p:nvSpPr>
        <p:spPr>
          <a:xfrm>
            <a:off x="6553048" y="1600200"/>
            <a:ext cx="914400" cy="45720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9" name="Text 7"/>
          <p:cNvSpPr txBox="1"/>
          <p:nvPr/>
        </p:nvSpPr>
        <p:spPr>
          <a:xfrm>
            <a:off x="7513168" y="1600200"/>
            <a:ext cx="3855568" cy="960120"/>
          </a:xfrm>
          <a:prstGeom prst="rect">
            <a:avLst/>
          </a:prstGeom>
          <a:noFill/>
          <a:ln/>
        </p:spPr>
        <p:txBody>
          <a:bodyPr wrap="square" lIns="0" tIns="0" rIns="0" bIns="0" rtlCol="0" anchor="t"/>
          <a:lstStyle/>
          <a:p>
            <a:pPr indent="0" marL="0">
              <a:buNone/>
            </a:pPr>
            <a:r>
              <a:rPr lang="en-US" sz="1600" b="1" dirty="0">
                <a:solidFill>
                  <a:schemeClr val="tx2"/>
                </a:solidFill>
              </a:rPr>
              <a:t>Accept clips with a large systematic offset, or flag them before augmenting?</a:t>
            </a:r>
            <a:endParaRPr lang="en-US" sz="1600" dirty="0"/>
          </a:p>
        </p:txBody>
      </p:sp>
      <p:sp>
        <p:nvSpPr>
          <p:cNvPr id="10" name="Text 8"/>
          <p:cNvSpPr txBox="1"/>
          <p:nvPr/>
        </p:nvSpPr>
        <p:spPr>
          <a:xfrm>
            <a:off x="7513168" y="2606040"/>
            <a:ext cx="3855568" cy="731520"/>
          </a:xfrm>
          <a:prstGeom prst="rect">
            <a:avLst/>
          </a:prstGeom>
          <a:noFill/>
          <a:ln/>
        </p:spPr>
        <p:txBody>
          <a:bodyPr wrap="square" lIns="0" tIns="0" rIns="0" bIns="0" rtlCol="0" anchor="t"/>
          <a:lstStyle/>
          <a:p>
            <a:pPr indent="0" marL="0">
              <a:buNone/>
            </a:pPr>
            <a:r>
              <a:rPr lang="en-US" sz="1400" dirty="0">
                <a:solidFill>
                  <a:schemeClr val="tx1"/>
                </a:solidFill>
              </a:rPr>
              <a:t>08917, 08918, 57949 look plausible but sit up to 3.85 pp above the floor.</a:t>
            </a:r>
            <a:endParaRPr lang="en-US" sz="1400" dirty="0"/>
          </a:p>
        </p:txBody>
      </p:sp>
      <p:sp>
        <p:nvSpPr>
          <p:cNvPr id="11" name="open-3"/>
          <p:cNvSpPr/>
          <p:nvPr/>
        </p:nvSpPr>
        <p:spPr>
          <a:xfrm>
            <a:off x="548640" y="3703320"/>
            <a:ext cx="5364328" cy="2103120"/>
          </a:xfrm>
          <a:prstGeom prst="rect">
            <a:avLst/>
          </a:prstGeom>
          <a:solidFill>
            <a:schemeClr val="bg2"/>
          </a:solidFill>
          <a:ln/>
        </p:spPr>
      </p:sp>
      <p:sp>
        <p:nvSpPr>
          <p:cNvPr id="12" name="Text 10"/>
          <p:cNvSpPr txBox="1"/>
          <p:nvPr/>
        </p:nvSpPr>
        <p:spPr>
          <a:xfrm>
            <a:off x="822960" y="3931920"/>
            <a:ext cx="914400" cy="45720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13" name="Text 11"/>
          <p:cNvSpPr txBox="1"/>
          <p:nvPr/>
        </p:nvSpPr>
        <p:spPr>
          <a:xfrm>
            <a:off x="1783080" y="3931920"/>
            <a:ext cx="3855568" cy="960120"/>
          </a:xfrm>
          <a:prstGeom prst="rect">
            <a:avLst/>
          </a:prstGeom>
          <a:noFill/>
          <a:ln/>
        </p:spPr>
        <p:txBody>
          <a:bodyPr wrap="square" lIns="0" tIns="0" rIns="0" bIns="0" rtlCol="0" anchor="t"/>
          <a:lstStyle/>
          <a:p>
            <a:pPr indent="0" marL="0">
              <a:buNone/>
            </a:pPr>
            <a:r>
              <a:rPr lang="en-US" sz="1600" b="1" dirty="0">
                <a:solidFill>
                  <a:schemeClr val="tx2"/>
                </a:solidFill>
              </a:rPr>
              <a:t>Does the round trip hold on another dataset, camera or signer pool?</a:t>
            </a:r>
            <a:endParaRPr lang="en-US" sz="1600" dirty="0"/>
          </a:p>
        </p:txBody>
      </p:sp>
      <p:sp>
        <p:nvSpPr>
          <p:cNvPr id="14" name="Text 12"/>
          <p:cNvSpPr txBox="1"/>
          <p:nvPr/>
        </p:nvSpPr>
        <p:spPr>
          <a:xfrm>
            <a:off x="1783080" y="4937760"/>
            <a:ext cx="3855568" cy="731520"/>
          </a:xfrm>
          <a:prstGeom prst="rect">
            <a:avLst/>
          </a:prstGeom>
          <a:noFill/>
          <a:ln/>
        </p:spPr>
        <p:txBody>
          <a:bodyPr wrap="square" lIns="0" tIns="0" rIns="0" bIns="0" rtlCol="0" anchor="t"/>
          <a:lstStyle/>
          <a:p>
            <a:pPr indent="0" marL="0">
              <a:buNone/>
            </a:pPr>
            <a:r>
              <a:rPr lang="en-US" sz="1400" dirty="0">
                <a:solidFill>
                  <a:schemeClr val="tx1"/>
                </a:solidFill>
              </a:rPr>
              <a:t>All evidence so far is from WLASL.</a:t>
            </a:r>
            <a:endParaRPr lang="en-US" sz="1400" dirty="0"/>
          </a:p>
        </p:txBody>
      </p:sp>
      <p:sp>
        <p:nvSpPr>
          <p:cNvPr id="15" name="open-4"/>
          <p:cNvSpPr/>
          <p:nvPr/>
        </p:nvSpPr>
        <p:spPr>
          <a:xfrm>
            <a:off x="6278728" y="3703320"/>
            <a:ext cx="5364328" cy="2103120"/>
          </a:xfrm>
          <a:prstGeom prst="rect">
            <a:avLst/>
          </a:prstGeom>
          <a:solidFill>
            <a:schemeClr val="bg2"/>
          </a:solidFill>
          <a:ln/>
        </p:spPr>
      </p:sp>
      <p:sp>
        <p:nvSpPr>
          <p:cNvPr id="16" name="Text 14"/>
          <p:cNvSpPr txBox="1"/>
          <p:nvPr/>
        </p:nvSpPr>
        <p:spPr>
          <a:xfrm>
            <a:off x="6553048" y="3931920"/>
            <a:ext cx="914400" cy="45720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17" name="Text 15"/>
          <p:cNvSpPr txBox="1"/>
          <p:nvPr/>
        </p:nvSpPr>
        <p:spPr>
          <a:xfrm>
            <a:off x="7513168" y="3931920"/>
            <a:ext cx="3855568" cy="960120"/>
          </a:xfrm>
          <a:prstGeom prst="rect">
            <a:avLst/>
          </a:prstGeom>
          <a:noFill/>
          <a:ln/>
        </p:spPr>
        <p:txBody>
          <a:bodyPr wrap="square" lIns="0" tIns="0" rIns="0" bIns="0" rtlCol="0" anchor="t"/>
          <a:lstStyle/>
          <a:p>
            <a:pPr indent="0" marL="0">
              <a:buNone/>
            </a:pPr>
            <a:r>
              <a:rPr lang="en-US" sz="1600" b="1" dirty="0">
                <a:solidFill>
                  <a:schemeClr val="tx2"/>
                </a:solidFill>
              </a:rPr>
              <a:t>Are the ASL-LEX head regions anatomically right?</a:t>
            </a:r>
            <a:endParaRPr lang="en-US" sz="1600" dirty="0"/>
          </a:p>
        </p:txBody>
      </p:sp>
      <p:sp>
        <p:nvSpPr>
          <p:cNvPr id="18" name="Text 16"/>
          <p:cNvSpPr txBox="1"/>
          <p:nvPr/>
        </p:nvSpPr>
        <p:spPr>
          <a:xfrm>
            <a:off x="7513168" y="4937760"/>
            <a:ext cx="3855568" cy="731520"/>
          </a:xfrm>
          <a:prstGeom prst="rect">
            <a:avLst/>
          </a:prstGeom>
          <a:noFill/>
          <a:ln/>
        </p:spPr>
        <p:txBody>
          <a:bodyPr wrap="square" lIns="0" tIns="0" rIns="0" bIns="0" rtlCol="0" anchor="t"/>
          <a:lstStyle/>
          <a:p>
            <a:pPr indent="0" marL="0">
              <a:buNone/>
            </a:pPr>
            <a:r>
              <a:rPr lang="en-US" sz="1400" dirty="0">
                <a:solidFill>
                  <a:schemeClr val="tx1"/>
                </a:solidFill>
              </a:rPr>
              <a:t>Needs a visual check of the region map.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Next steps</a:t>
            </a:r>
            <a:endParaRPr lang="en-US" sz="3600" dirty="0"/>
          </a:p>
        </p:txBody>
      </p:sp>
      <p:sp>
        <p:nvSpPr>
          <p:cNvPr id="3" name="dot-1"/>
          <p:cNvSpPr/>
          <p:nvPr/>
        </p:nvSpPr>
        <p:spPr>
          <a:xfrm>
            <a:off x="548640" y="1417320"/>
            <a:ext cx="457200" cy="457200"/>
          </a:xfrm>
          <a:prstGeom prst="ellipse">
            <a:avLst/>
          </a:prstGeom>
          <a:solidFill>
            <a:schemeClr val="accent1"/>
          </a:solidFill>
          <a:ln/>
        </p:spPr>
      </p:sp>
      <p:sp>
        <p:nvSpPr>
          <p:cNvPr id="4"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34440" y="1371600"/>
            <a:ext cx="4206240" cy="822960"/>
          </a:xfrm>
          <a:prstGeom prst="rect">
            <a:avLst/>
          </a:prstGeom>
          <a:noFill/>
          <a:ln/>
        </p:spPr>
        <p:txBody>
          <a:bodyPr wrap="square" lIns="0" tIns="0" rIns="0" bIns="0" rtlCol="0" anchor="t"/>
          <a:lstStyle/>
          <a:p>
            <a:pPr indent="0" marL="0">
              <a:buNone/>
            </a:pPr>
            <a:r>
              <a:rPr lang="en-US" sz="1800" b="1" dirty="0">
                <a:solidFill>
                  <a:schemeClr val="bg1"/>
                </a:solidFill>
              </a:rPr>
              <a:t>Rework the trial to the safe ranges</a:t>
            </a:r>
            <a:endParaRPr lang="en-US" sz="1800" dirty="0"/>
          </a:p>
        </p:txBody>
      </p:sp>
      <p:sp>
        <p:nvSpPr>
          <p:cNvPr id="6" name="Text 4"/>
          <p:cNvSpPr txBox="1"/>
          <p:nvPr/>
        </p:nvSpPr>
        <p:spPr>
          <a:xfrm>
            <a:off x="5577840" y="1371600"/>
            <a:ext cx="6065215" cy="822960"/>
          </a:xfrm>
          <a:prstGeom prst="rect">
            <a:avLst/>
          </a:prstGeom>
          <a:noFill/>
          <a:ln/>
        </p:spPr>
        <p:txBody>
          <a:bodyPr wrap="square" lIns="0" tIns="0" rIns="0" bIns="0" rtlCol="0" anchor="t"/>
          <a:lstStyle/>
          <a:p>
            <a:pPr indent="0" marL="0">
              <a:buNone/>
            </a:pPr>
            <a:r>
              <a:rPr lang="en-US" sz="1500" dirty="0">
                <a:solidFill>
                  <a:schemeClr val="accent5"/>
                </a:solidFill>
              </a:rPr>
              <a:t>Yaw ±20°, mirror, uniform rate 0.8–1.25×, arm joints ±4° at p = 0.3, scale 0.85–1.15, uncentring with hands in frame.</a:t>
            </a:r>
            <a:endParaRPr lang="en-US" sz="1500" dirty="0"/>
          </a:p>
        </p:txBody>
      </p:sp>
      <p:sp>
        <p:nvSpPr>
          <p:cNvPr id="7" name="dot-2"/>
          <p:cNvSpPr/>
          <p:nvPr/>
        </p:nvSpPr>
        <p:spPr>
          <a:xfrm>
            <a:off x="548640" y="2377440"/>
            <a:ext cx="457200" cy="457200"/>
          </a:xfrm>
          <a:prstGeom prst="ellipse">
            <a:avLst/>
          </a:prstGeom>
          <a:solidFill>
            <a:schemeClr val="accent1"/>
          </a:solidFill>
          <a:ln/>
        </p:spPr>
      </p:sp>
      <p:sp>
        <p:nvSpPr>
          <p:cNvPr id="8" name="Text 6"/>
          <p:cNvSpPr txBox="1"/>
          <p:nvPr/>
        </p:nvSpPr>
        <p:spPr>
          <a:xfrm>
            <a:off x="548640"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34440" y="2331720"/>
            <a:ext cx="4206240" cy="822960"/>
          </a:xfrm>
          <a:prstGeom prst="rect">
            <a:avLst/>
          </a:prstGeom>
          <a:noFill/>
          <a:ln/>
        </p:spPr>
        <p:txBody>
          <a:bodyPr wrap="square" lIns="0" tIns="0" rIns="0" bIns="0" rtlCol="0" anchor="t"/>
          <a:lstStyle/>
          <a:p>
            <a:pPr indent="0" marL="0">
              <a:buNone/>
            </a:pPr>
            <a:r>
              <a:rPr lang="en-US" sz="1800" b="1" dirty="0">
                <a:solidFill>
                  <a:schemeClr val="bg1"/>
                </a:solidFill>
              </a:rPr>
              <a:t>Turn invariants into rejection checks</a:t>
            </a:r>
            <a:endParaRPr lang="en-US" sz="1800" dirty="0"/>
          </a:p>
        </p:txBody>
      </p:sp>
      <p:sp>
        <p:nvSpPr>
          <p:cNvPr id="10" name="Text 8"/>
          <p:cNvSpPr txBox="1"/>
          <p:nvPr/>
        </p:nvSpPr>
        <p:spPr>
          <a:xfrm>
            <a:off x="5577840" y="2331720"/>
            <a:ext cx="6065215" cy="822960"/>
          </a:xfrm>
          <a:prstGeom prst="rect">
            <a:avLst/>
          </a:prstGeom>
          <a:noFill/>
          <a:ln/>
        </p:spPr>
        <p:txBody>
          <a:bodyPr wrap="square" lIns="0" tIns="0" rIns="0" bIns="0" rtlCol="0" anchor="t"/>
          <a:lstStyle/>
          <a:p>
            <a:pPr indent="0" marL="0">
              <a:buNone/>
            </a:pPr>
            <a:r>
              <a:rPr lang="en-US" sz="1500" dirty="0">
                <a:solidFill>
                  <a:schemeClr val="accent5"/>
                </a:solidFill>
              </a:rPr>
              <a:t>Location region and contact first; they depend on the face geometry and on the depth gap.</a:t>
            </a:r>
            <a:endParaRPr lang="en-US" sz="1500" dirty="0"/>
          </a:p>
        </p:txBody>
      </p:sp>
      <p:sp>
        <p:nvSpPr>
          <p:cNvPr id="11" name="dot-3"/>
          <p:cNvSpPr/>
          <p:nvPr/>
        </p:nvSpPr>
        <p:spPr>
          <a:xfrm>
            <a:off x="548640" y="3337560"/>
            <a:ext cx="457200" cy="457200"/>
          </a:xfrm>
          <a:prstGeom prst="ellipse">
            <a:avLst/>
          </a:prstGeom>
          <a:solidFill>
            <a:schemeClr val="accent1"/>
          </a:solidFill>
          <a:ln/>
        </p:spPr>
      </p:sp>
      <p:sp>
        <p:nvSpPr>
          <p:cNvPr id="12" name="Text 10"/>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34440" y="3291840"/>
            <a:ext cx="4206240" cy="822960"/>
          </a:xfrm>
          <a:prstGeom prst="rect">
            <a:avLst/>
          </a:prstGeom>
          <a:noFill/>
          <a:ln/>
        </p:spPr>
        <p:txBody>
          <a:bodyPr wrap="square" lIns="0" tIns="0" rIns="0" bIns="0" rtlCol="0" anchor="t"/>
          <a:lstStyle/>
          <a:p>
            <a:pPr indent="0" marL="0">
              <a:buNone/>
            </a:pPr>
            <a:r>
              <a:rPr lang="en-US" sz="1800" b="1" dirty="0">
                <a:solidFill>
                  <a:schemeClr val="bg1"/>
                </a:solidFill>
              </a:rPr>
              <a:t>Get labels: WLASL annotations and ASL-LEX 2.0</a:t>
            </a:r>
            <a:endParaRPr lang="en-US" sz="1800" dirty="0"/>
          </a:p>
        </p:txBody>
      </p:sp>
      <p:sp>
        <p:nvSpPr>
          <p:cNvPr id="14" name="Text 12"/>
          <p:cNvSpPr txBox="1"/>
          <p:nvPr/>
        </p:nvSpPr>
        <p:spPr>
          <a:xfrm>
            <a:off x="5577840" y="3291840"/>
            <a:ext cx="6065215" cy="822960"/>
          </a:xfrm>
          <a:prstGeom prst="rect">
            <a:avLst/>
          </a:prstGeom>
          <a:noFill/>
          <a:ln/>
        </p:spPr>
        <p:txBody>
          <a:bodyPr wrap="square" lIns="0" tIns="0" rIns="0" bIns="0" rtlCol="0" anchor="t"/>
          <a:lstStyle/>
          <a:p>
            <a:pPr indent="0" marL="0">
              <a:buNone/>
            </a:pPr>
            <a:r>
              <a:rPr lang="en-US" sz="1500" dirty="0">
                <a:solidFill>
                  <a:schemeClr val="accent5"/>
                </a:solidFill>
              </a:rPr>
              <a:t>Needed for per-sign gating and for any recognition result; settle the ASL-LEX licence.</a:t>
            </a:r>
            <a:endParaRPr lang="en-US" sz="1500" dirty="0"/>
          </a:p>
        </p:txBody>
      </p:sp>
      <p:sp>
        <p:nvSpPr>
          <p:cNvPr id="15" name="dot-4"/>
          <p:cNvSpPr/>
          <p:nvPr/>
        </p:nvSpPr>
        <p:spPr>
          <a:xfrm>
            <a:off x="548640" y="4297680"/>
            <a:ext cx="457200" cy="457200"/>
          </a:xfrm>
          <a:prstGeom prst="ellipse">
            <a:avLst/>
          </a:prstGeom>
          <a:solidFill>
            <a:schemeClr val="accent1"/>
          </a:solidFill>
          <a:ln/>
        </p:spPr>
      </p:sp>
      <p:sp>
        <p:nvSpPr>
          <p:cNvPr id="16" name="Text 14"/>
          <p:cNvSpPr txBox="1"/>
          <p:nvPr/>
        </p:nvSpPr>
        <p:spPr>
          <a:xfrm>
            <a:off x="548640" y="4297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234440" y="4251960"/>
            <a:ext cx="4206240" cy="822960"/>
          </a:xfrm>
          <a:prstGeom prst="rect">
            <a:avLst/>
          </a:prstGeom>
          <a:noFill/>
          <a:ln/>
        </p:spPr>
        <p:txBody>
          <a:bodyPr wrap="square" lIns="0" tIns="0" rIns="0" bIns="0" rtlCol="0" anchor="t"/>
          <a:lstStyle/>
          <a:p>
            <a:pPr indent="0" marL="0">
              <a:buNone/>
            </a:pPr>
            <a:r>
              <a:rPr lang="en-US" sz="1800" b="1" dirty="0">
                <a:solidFill>
                  <a:schemeClr val="bg1"/>
                </a:solidFill>
              </a:rPr>
              <a:t>Run the staged ablation</a:t>
            </a:r>
            <a:endParaRPr lang="en-US" sz="1800" dirty="0"/>
          </a:p>
        </p:txBody>
      </p:sp>
      <p:sp>
        <p:nvSpPr>
          <p:cNvPr id="18" name="Text 16"/>
          <p:cNvSpPr txBox="1"/>
          <p:nvPr/>
        </p:nvSpPr>
        <p:spPr>
          <a:xfrm>
            <a:off x="5577840" y="4251960"/>
            <a:ext cx="6065215" cy="822960"/>
          </a:xfrm>
          <a:prstGeom prst="rect">
            <a:avLst/>
          </a:prstGeom>
          <a:noFill/>
          <a:ln/>
        </p:spPr>
        <p:txBody>
          <a:bodyPr wrap="square" lIns="0" tIns="0" rIns="0" bIns="0" rtlCol="0" anchor="t"/>
          <a:lstStyle/>
          <a:p>
            <a:pPr indent="0" marL="0">
              <a:buNone/>
            </a:pPr>
            <a:r>
              <a:rPr lang="en-US" sz="1500" dirty="0">
                <a:solidFill>
                  <a:schemeClr val="accent5"/>
                </a:solidFill>
              </a:rPr>
              <a:t>Observed vs fitted body+hands, then + face, then each augmentation alone, as SPOTER did, on signer-disjoint splits.</a:t>
            </a:r>
            <a:endParaRPr lang="en-US" sz="1500" dirty="0"/>
          </a:p>
        </p:txBody>
      </p:sp>
      <p:sp>
        <p:nvSpPr>
          <p:cNvPr id="19" name="dot-5"/>
          <p:cNvSpPr/>
          <p:nvPr/>
        </p:nvSpPr>
        <p:spPr>
          <a:xfrm>
            <a:off x="548640" y="5257800"/>
            <a:ext cx="457200" cy="457200"/>
          </a:xfrm>
          <a:prstGeom prst="ellipse">
            <a:avLst/>
          </a:prstGeom>
          <a:solidFill>
            <a:schemeClr val="accent1"/>
          </a:solidFill>
          <a:ln/>
        </p:spPr>
      </p:sp>
      <p:sp>
        <p:nvSpPr>
          <p:cNvPr id="20" name="Text 18"/>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1234440" y="5212080"/>
            <a:ext cx="4206240" cy="822960"/>
          </a:xfrm>
          <a:prstGeom prst="rect">
            <a:avLst/>
          </a:prstGeom>
          <a:noFill/>
          <a:ln/>
        </p:spPr>
        <p:txBody>
          <a:bodyPr wrap="square" lIns="0" tIns="0" rIns="0" bIns="0" rtlCol="0" anchor="t"/>
          <a:lstStyle/>
          <a:p>
            <a:pPr indent="0" marL="0">
              <a:buNone/>
            </a:pPr>
            <a:r>
              <a:rPr lang="en-US" sz="1800" b="1" dirty="0">
                <a:solidFill>
                  <a:schemeClr val="bg1"/>
                </a:solidFill>
              </a:rPr>
              <a:t>Build a small labelled contact set</a:t>
            </a:r>
            <a:endParaRPr lang="en-US" sz="1800" dirty="0"/>
          </a:p>
        </p:txBody>
      </p:sp>
      <p:sp>
        <p:nvSpPr>
          <p:cNvPr id="22" name="Text 20"/>
          <p:cNvSpPr txBox="1"/>
          <p:nvPr/>
        </p:nvSpPr>
        <p:spPr>
          <a:xfrm>
            <a:off x="5577840" y="5212080"/>
            <a:ext cx="6065215" cy="822960"/>
          </a:xfrm>
          <a:prstGeom prst="rect">
            <a:avLst/>
          </a:prstGeom>
          <a:noFill/>
          <a:ln/>
        </p:spPr>
        <p:txBody>
          <a:bodyPr wrap="square" lIns="0" tIns="0" rIns="0" bIns="0" rtlCol="0" anchor="t"/>
          <a:lstStyle/>
          <a:p>
            <a:pPr indent="0" marL="0">
              <a:buNone/>
            </a:pPr>
            <a:r>
              <a:rPr lang="en-US" sz="1500" dirty="0">
                <a:solidFill>
                  <a:schemeClr val="accent5"/>
                </a:solidFill>
              </a:rPr>
              <a:t>Definite contact, near-but-not-touching and ordinary signing space, to calibrate depth correction.</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ineticAugment">
  <a:themeElements>
    <a:clrScheme name="KineticAugment">
      <a:dk1>
        <a:srgbClr val="1B1F1E"/>
      </a:dk1>
      <a:lt1>
        <a:srgbClr val="FFFFFF"/>
      </a:lt1>
      <a:dk2>
        <a:srgbClr val="163A33"/>
      </a:dk2>
      <a:lt2>
        <a:srgbClr val="EEF3F1"/>
      </a:lt2>
      <a:accent1>
        <a:srgbClr val="E07A2E"/>
      </a:accent1>
      <a:accent2>
        <a:srgbClr val="2F7D6D"/>
      </a:accent2>
      <a:accent3>
        <a:srgbClr val="7D8C87"/>
      </a:accent3>
      <a:accent4>
        <a:srgbClr val="B8432F"/>
      </a:accent4>
      <a:accent5>
        <a:srgbClr val="A9C7BD"/>
      </a:accent5>
      <a:accent6>
        <a:srgbClr val="D9B44A"/>
      </a:accent6>
      <a:hlink>
        <a:srgbClr val="2F7D6D"/>
      </a:hlink>
      <a:folHlink>
        <a:srgbClr val="7D8C87"/>
      </a:folHlink>
    </a:clrScheme>
    <a:fontScheme name="KineticAug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KineticAugment: augmentation and the face</dc:title>
  <dc:subject>Week 2 progress: round trip on unseen clips, meaning-preserving augmentation, V1.3 face</dc:subject>
  <dc:creator>PptxGenJS</dc:creator>
  <cp:lastModifiedBy>PptxGenJS</cp:lastModifiedBy>
  <cp:revision>1</cp:revision>
  <dcterms:created xsi:type="dcterms:W3CDTF">2026-10-13T21:26:09Z</dcterms:created>
  <dcterms:modified xsi:type="dcterms:W3CDTF">2026-10-13T21:26:09Z</dcterms:modified>
</cp:coreProperties>
</file>